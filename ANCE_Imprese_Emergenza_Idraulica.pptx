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  <p:sldId id="265" r:id="rId9"/>
    <p:sldId id="268" r:id="rId10"/>
    <p:sldId id="270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86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Imprese</c:v>
                </c:pt>
              </c:strCache>
            </c:strRef>
          </c:tx>
          <c:spPr>
            <a:solidFill>
              <a:srgbClr val="16294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6294E"/>
                    </a:solidFill>
                    <a:latin typeface="Calibri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Alessandria</c:v>
                </c:pt>
                <c:pt idx="1">
                  <c:v>Cuneo</c:v>
                </c:pt>
                <c:pt idx="2">
                  <c:v>Biella</c:v>
                </c:pt>
                <c:pt idx="3">
                  <c:v>Vercelli</c:v>
                </c:pt>
                <c:pt idx="4">
                  <c:v>Asti</c:v>
                </c:pt>
                <c:pt idx="5">
                  <c:v>Novara</c:v>
                </c:pt>
                <c:pt idx="6">
                  <c:v>Torino</c:v>
                </c:pt>
                <c:pt idx="7">
                  <c:v>Valle d'Aosta</c:v>
                </c:pt>
                <c:pt idx="8">
                  <c:v>Verbano-Cusio-Ossola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</c:v>
                </c:pt>
                <c:pt idx="1">
                  <c:v>8</c:v>
                </c:pt>
                <c:pt idx="2">
                  <c:v>7</c:v>
                </c:pt>
                <c:pt idx="3">
                  <c:v>6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2</c:v>
                </c:pt>
                <c:pt idx="8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6A-4AFC-A95D-3466CDECBA8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8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6375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iemonte.ance.it/2025/10/14/emergenze-idrauliche-ance-piemonte-e-valle-daosta-supporta-il-territorio-con-49-imprese-e-773-addetti-qualificati-per-interventi-immediati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25880"/>
            <a:ext cx="12191695" cy="5532120"/>
          </a:xfrm>
          <a:prstGeom prst="rect">
            <a:avLst/>
          </a:prstGeom>
          <a:solidFill>
            <a:srgbClr val="16294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Shape 1"/>
          <p:cNvSpPr/>
          <p:nvPr/>
        </p:nvSpPr>
        <p:spPr>
          <a:xfrm>
            <a:off x="548640" y="548640"/>
            <a:ext cx="228600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5" name="Image 1" descr="/sessions/stoic-compassionate-carson/mnt/outputs/logo-anc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95536" y="381762"/>
            <a:ext cx="2732532" cy="74523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2011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3A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EMERGENZE IDRAULICHE  ·  PIEMONTE E VALLE D'AOSTA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548640" y="24688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Imprese edili qualificate disponibili H24</a:t>
            </a:r>
            <a:endParaRPr lang="en-US" sz="3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 interventi di emergenza idraulica</a:t>
            </a:r>
            <a:endParaRPr lang="en-US" sz="3400" dirty="0"/>
          </a:p>
        </p:txBody>
      </p:sp>
      <p:sp>
        <p:nvSpPr>
          <p:cNvPr id="8" name="Text 4"/>
          <p:cNvSpPr/>
          <p:nvPr/>
        </p:nvSpPr>
        <p:spPr>
          <a:xfrm>
            <a:off x="548640" y="4114800"/>
            <a:ext cx="107620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Elenco operativo georeferenziato delle imprese associate disponibili per interventi urgenti di messa in sicurezza</a:t>
            </a: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548640" y="5074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collaborazione con Regione Piemonte · UPI Piemonte · ANCI Piemonte · AIPo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F5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PROGETTO IN SINTESI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1381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162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rete di 52 imprese qualificate, pronte a intervenire H24 su tutto il territorio regionale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74720" cy="1691640"/>
          </a:xfrm>
          <a:prstGeom prst="rect">
            <a:avLst/>
          </a:prstGeom>
          <a:solidFill>
            <a:srgbClr val="16294E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93852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3317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04672" y="30906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3A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IMPRESE QUALIFICATE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270248" y="1691640"/>
            <a:ext cx="3474720" cy="1691640"/>
          </a:xfrm>
          <a:prstGeom prst="rect">
            <a:avLst/>
          </a:prstGeom>
          <a:solidFill>
            <a:srgbClr val="16294E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1938528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53128" y="23317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857</a:t>
            </a:r>
            <a:endParaRPr lang="en-US" sz="4600" dirty="0"/>
          </a:p>
        </p:txBody>
      </p:sp>
      <p:sp>
        <p:nvSpPr>
          <p:cNvPr id="11" name="Text 7"/>
          <p:cNvSpPr/>
          <p:nvPr/>
        </p:nvSpPr>
        <p:spPr>
          <a:xfrm>
            <a:off x="4526280" y="30906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3A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ADDETTI COMPLESSIVI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991856" y="1691640"/>
            <a:ext cx="3474720" cy="1691640"/>
          </a:xfrm>
          <a:prstGeom prst="rect">
            <a:avLst/>
          </a:prstGeom>
          <a:solidFill>
            <a:srgbClr val="16294E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7888" y="1938528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74736" y="23317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4600" dirty="0"/>
          </a:p>
        </p:txBody>
      </p:sp>
      <p:sp>
        <p:nvSpPr>
          <p:cNvPr id="15" name="Text 10"/>
          <p:cNvSpPr/>
          <p:nvPr/>
        </p:nvSpPr>
        <p:spPr>
          <a:xfrm>
            <a:off x="8247888" y="30906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3A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PROVINCE COPERTE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548640" y="3630168"/>
            <a:ext cx="71963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L'iniziativa, promossa da ANCE Piemonte e Valle d'Aosta in raccordo con Regione Piemonte, UPI, ANCI e AIPo, mette a disposizione degli enti competenti un elenco strutturato e georeferenziato di imprese edili qualificate, disponibili a intervenire in caso di piene improvvise, dissesti idraulici e ostruzioni degli alvei.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Obiettivo: ridurre i tempi di attivazione e aumentare l'efficacia degli interventi di emergenza, mettendo a sistema risorse immediate e affidabili a supporto della Protezione Civile, delle Province e dei Comuni.</a:t>
            </a:r>
            <a:endParaRPr lang="en-US" dirty="0"/>
          </a:p>
        </p:txBody>
      </p:sp>
      <p:sp>
        <p:nvSpPr>
          <p:cNvPr id="18" name="Text 1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ANCE Piemonte e Valle d'Aosta  ·  Imprese qualificate per emergenze idrauliche H24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graphicFrame>
        <p:nvGraphicFramePr>
          <p:cNvPr id="21" name="Chart 0">
            <a:extLst>
              <a:ext uri="{FF2B5EF4-FFF2-40B4-BE49-F238E27FC236}">
                <a16:creationId xmlns:a16="http://schemas.microsoft.com/office/drawing/2014/main" id="{5B422473-5C6C-3044-38CE-2D08A3D67D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854878"/>
              </p:ext>
            </p:extLst>
          </p:nvPr>
        </p:nvGraphicFramePr>
        <p:xfrm>
          <a:off x="7744968" y="3681056"/>
          <a:ext cx="4349761" cy="26380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5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OBIETTIVI DEL PROGETTO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162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 obiettivi per garantire interventi rapidi, coordinati e capillari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322957"/>
            <a:ext cx="3474720" cy="1974714"/>
          </a:xfrm>
          <a:prstGeom prst="rect">
            <a:avLst/>
          </a:prstGeom>
          <a:solidFill>
            <a:srgbClr val="F4F6F8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48640" y="1322957"/>
            <a:ext cx="3474720" cy="109728"/>
          </a:xfrm>
          <a:prstGeom prst="rect">
            <a:avLst/>
          </a:prstGeom>
          <a:solidFill>
            <a:srgbClr val="2F5B9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228600" y="920037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8637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5700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Risposta rapida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" y="2072952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Garantire interventi immediati in caso di emergenze ambientali su tutto il territorio regionale.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270248" y="1322956"/>
            <a:ext cx="3474720" cy="1974715"/>
          </a:xfrm>
          <a:prstGeom prst="rect">
            <a:avLst/>
          </a:prstGeom>
          <a:solidFill>
            <a:srgbClr val="F4F6F8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4270248" y="1322957"/>
            <a:ext cx="3474720" cy="109728"/>
          </a:xfrm>
          <a:prstGeom prst="rect">
            <a:avLst/>
          </a:prstGeom>
          <a:solidFill>
            <a:srgbClr val="2F5B9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3950208" y="920037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8808" y="1148637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90288" y="15700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Coordinamento efficace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590288" y="2072952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Facilitare il coordinamento tra Protezione Civile e imprese qualificate per ottimizzare i tempi di intervento.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7991856" y="1322957"/>
            <a:ext cx="3474720" cy="1974714"/>
          </a:xfrm>
          <a:prstGeom prst="rect">
            <a:avLst/>
          </a:prstGeom>
          <a:solidFill>
            <a:srgbClr val="F4F6F8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3"/>
          <p:cNvSpPr/>
          <p:nvPr/>
        </p:nvSpPr>
        <p:spPr>
          <a:xfrm>
            <a:off x="7991856" y="1322957"/>
            <a:ext cx="3474720" cy="109728"/>
          </a:xfrm>
          <a:prstGeom prst="rect">
            <a:avLst/>
          </a:prstGeom>
          <a:solidFill>
            <a:srgbClr val="2F5B9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Shape 14"/>
          <p:cNvSpPr/>
          <p:nvPr/>
        </p:nvSpPr>
        <p:spPr>
          <a:xfrm>
            <a:off x="7671816" y="920037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0416" y="1148637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11896" y="15700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Copertura territoriale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8311896" y="2072952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Assicurare una distribuzione capillare delle imprese qualificate in tutte le province piemontesi e valdostane.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4186C2B8-38EF-2572-2337-BC8EA2C730E4}"/>
              </a:ext>
            </a:extLst>
          </p:cNvPr>
          <p:cNvSpPr/>
          <p:nvPr/>
        </p:nvSpPr>
        <p:spPr>
          <a:xfrm>
            <a:off x="548640" y="3265387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162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Ogni impresa dell'elenco risponde a quattro requisiti operativi</a:t>
            </a:r>
            <a:endParaRPr lang="en-US" sz="2300" dirty="0"/>
          </a:p>
        </p:txBody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2E3B761A-924C-D293-580C-3BEB80AA177F}"/>
              </a:ext>
            </a:extLst>
          </p:cNvPr>
          <p:cNvSpPr/>
          <p:nvPr/>
        </p:nvSpPr>
        <p:spPr>
          <a:xfrm>
            <a:off x="548640" y="3638148"/>
            <a:ext cx="5303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Shape 3">
            <a:extLst>
              <a:ext uri="{FF2B5EF4-FFF2-40B4-BE49-F238E27FC236}">
                <a16:creationId xmlns:a16="http://schemas.microsoft.com/office/drawing/2014/main" id="{43381A6A-33C8-7767-7200-47D04B0CC179}"/>
              </a:ext>
            </a:extLst>
          </p:cNvPr>
          <p:cNvSpPr/>
          <p:nvPr/>
        </p:nvSpPr>
        <p:spPr>
          <a:xfrm>
            <a:off x="548640" y="3638148"/>
            <a:ext cx="109728" cy="1371600"/>
          </a:xfrm>
          <a:prstGeom prst="rect">
            <a:avLst/>
          </a:prstGeom>
          <a:solidFill>
            <a:srgbClr val="E3A82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15B4CF1E-5BDF-E535-7355-F9053397D410}"/>
              </a:ext>
            </a:extLst>
          </p:cNvPr>
          <p:cNvSpPr/>
          <p:nvPr/>
        </p:nvSpPr>
        <p:spPr>
          <a:xfrm>
            <a:off x="868680" y="3949044"/>
            <a:ext cx="749808" cy="749808"/>
          </a:xfrm>
          <a:prstGeom prst="ellipse">
            <a:avLst/>
          </a:prstGeom>
          <a:solidFill>
            <a:srgbClr val="16294E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5" name="Image 0" descr="preencoded.png">
            <a:extLst>
              <a:ext uri="{FF2B5EF4-FFF2-40B4-BE49-F238E27FC236}">
                <a16:creationId xmlns:a16="http://schemas.microsoft.com/office/drawing/2014/main" id="{EAAC9587-6663-43B8-7A19-8380AC2AE6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" y="4141068"/>
            <a:ext cx="365760" cy="365760"/>
          </a:xfrm>
          <a:prstGeom prst="rect">
            <a:avLst/>
          </a:prstGeom>
        </p:spPr>
      </p:pic>
      <p:sp>
        <p:nvSpPr>
          <p:cNvPr id="37" name="Text 5">
            <a:extLst>
              <a:ext uri="{FF2B5EF4-FFF2-40B4-BE49-F238E27FC236}">
                <a16:creationId xmlns:a16="http://schemas.microsoft.com/office/drawing/2014/main" id="{2675D9A4-C2C1-CA4E-61A9-BE7B90DE5B18}"/>
              </a:ext>
            </a:extLst>
          </p:cNvPr>
          <p:cNvSpPr/>
          <p:nvPr/>
        </p:nvSpPr>
        <p:spPr>
          <a:xfrm>
            <a:off x="1828800" y="38393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2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Attestazione SOA</a:t>
            </a:r>
            <a:endParaRPr lang="en-US" dirty="0"/>
          </a:p>
        </p:txBody>
      </p:sp>
      <p:sp>
        <p:nvSpPr>
          <p:cNvPr id="39" name="Text 6">
            <a:extLst>
              <a:ext uri="{FF2B5EF4-FFF2-40B4-BE49-F238E27FC236}">
                <a16:creationId xmlns:a16="http://schemas.microsoft.com/office/drawing/2014/main" id="{089F8700-8D7A-797B-05F7-1B5473A79928}"/>
              </a:ext>
            </a:extLst>
          </p:cNvPr>
          <p:cNvSpPr/>
          <p:nvPr/>
        </p:nvSpPr>
        <p:spPr>
          <a:xfrm>
            <a:off x="1828800" y="4186788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Possesso di attestazione SOA per interventi di manutenzione idraulica o, in alternativa, comprovata esperienza pregressa.</a:t>
            </a:r>
            <a:endParaRPr lang="en-US" sz="1400" dirty="0"/>
          </a:p>
        </p:txBody>
      </p:sp>
      <p:sp>
        <p:nvSpPr>
          <p:cNvPr id="41" name="Shape 7">
            <a:extLst>
              <a:ext uri="{FF2B5EF4-FFF2-40B4-BE49-F238E27FC236}">
                <a16:creationId xmlns:a16="http://schemas.microsoft.com/office/drawing/2014/main" id="{882D188E-E6F6-9B60-C92F-20C3D1E52BE9}"/>
              </a:ext>
            </a:extLst>
          </p:cNvPr>
          <p:cNvSpPr/>
          <p:nvPr/>
        </p:nvSpPr>
        <p:spPr>
          <a:xfrm>
            <a:off x="6099048" y="3638148"/>
            <a:ext cx="5303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Shape 8">
            <a:extLst>
              <a:ext uri="{FF2B5EF4-FFF2-40B4-BE49-F238E27FC236}">
                <a16:creationId xmlns:a16="http://schemas.microsoft.com/office/drawing/2014/main" id="{A57EAB15-18E7-564D-B889-4ECED1CDDFC0}"/>
              </a:ext>
            </a:extLst>
          </p:cNvPr>
          <p:cNvSpPr/>
          <p:nvPr/>
        </p:nvSpPr>
        <p:spPr>
          <a:xfrm>
            <a:off x="6099048" y="3638148"/>
            <a:ext cx="109728" cy="1371600"/>
          </a:xfrm>
          <a:prstGeom prst="rect">
            <a:avLst/>
          </a:prstGeom>
          <a:solidFill>
            <a:srgbClr val="E3A82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5" name="Shape 9">
            <a:extLst>
              <a:ext uri="{FF2B5EF4-FFF2-40B4-BE49-F238E27FC236}">
                <a16:creationId xmlns:a16="http://schemas.microsoft.com/office/drawing/2014/main" id="{12B2F3E1-B651-DBD4-B3F6-D9B9F41D2976}"/>
              </a:ext>
            </a:extLst>
          </p:cNvPr>
          <p:cNvSpPr/>
          <p:nvPr/>
        </p:nvSpPr>
        <p:spPr>
          <a:xfrm>
            <a:off x="6419088" y="3949044"/>
            <a:ext cx="749808" cy="749808"/>
          </a:xfrm>
          <a:prstGeom prst="ellipse">
            <a:avLst/>
          </a:prstGeom>
          <a:solidFill>
            <a:srgbClr val="16294E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7" name="Image 1" descr="preencoded.png">
            <a:extLst>
              <a:ext uri="{FF2B5EF4-FFF2-40B4-BE49-F238E27FC236}">
                <a16:creationId xmlns:a16="http://schemas.microsoft.com/office/drawing/2014/main" id="{5C5D9B44-977F-80A8-2B54-595B3A3E64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1112" y="4141068"/>
            <a:ext cx="365760" cy="365760"/>
          </a:xfrm>
          <a:prstGeom prst="rect">
            <a:avLst/>
          </a:prstGeom>
        </p:spPr>
      </p:pic>
      <p:sp>
        <p:nvSpPr>
          <p:cNvPr id="49" name="Text 10">
            <a:extLst>
              <a:ext uri="{FF2B5EF4-FFF2-40B4-BE49-F238E27FC236}">
                <a16:creationId xmlns:a16="http://schemas.microsoft.com/office/drawing/2014/main" id="{7B9967A8-EF79-868C-98D4-2055ECAE5497}"/>
              </a:ext>
            </a:extLst>
          </p:cNvPr>
          <p:cNvSpPr/>
          <p:nvPr/>
        </p:nvSpPr>
        <p:spPr>
          <a:xfrm>
            <a:off x="7379208" y="38393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2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Disponibilità H24</a:t>
            </a:r>
            <a:endParaRPr lang="en-US" dirty="0"/>
          </a:p>
        </p:txBody>
      </p:sp>
      <p:sp>
        <p:nvSpPr>
          <p:cNvPr id="51" name="Text 11">
            <a:extLst>
              <a:ext uri="{FF2B5EF4-FFF2-40B4-BE49-F238E27FC236}">
                <a16:creationId xmlns:a16="http://schemas.microsoft.com/office/drawing/2014/main" id="{B82F7D23-0DCD-9504-6B16-7CECAE57671F}"/>
              </a:ext>
            </a:extLst>
          </p:cNvPr>
          <p:cNvSpPr/>
          <p:nvPr/>
        </p:nvSpPr>
        <p:spPr>
          <a:xfrm>
            <a:off x="7379208" y="4186788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Reperibilità continua e capacità di attivazione entro 2 ore dalla chiamata.</a:t>
            </a:r>
            <a:endParaRPr lang="en-US" sz="1400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217B287A-BD4E-7B61-CA40-D52196ACA130}"/>
              </a:ext>
            </a:extLst>
          </p:cNvPr>
          <p:cNvSpPr/>
          <p:nvPr/>
        </p:nvSpPr>
        <p:spPr>
          <a:xfrm>
            <a:off x="548640" y="5210916"/>
            <a:ext cx="5303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5" name="Shape 13">
            <a:extLst>
              <a:ext uri="{FF2B5EF4-FFF2-40B4-BE49-F238E27FC236}">
                <a16:creationId xmlns:a16="http://schemas.microsoft.com/office/drawing/2014/main" id="{991BF49F-E17C-413F-6CCD-04494D0F4D2B}"/>
              </a:ext>
            </a:extLst>
          </p:cNvPr>
          <p:cNvSpPr/>
          <p:nvPr/>
        </p:nvSpPr>
        <p:spPr>
          <a:xfrm>
            <a:off x="548640" y="5210916"/>
            <a:ext cx="109728" cy="1371600"/>
          </a:xfrm>
          <a:prstGeom prst="rect">
            <a:avLst/>
          </a:prstGeom>
          <a:solidFill>
            <a:srgbClr val="E3A82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7" name="Shape 14">
            <a:extLst>
              <a:ext uri="{FF2B5EF4-FFF2-40B4-BE49-F238E27FC236}">
                <a16:creationId xmlns:a16="http://schemas.microsoft.com/office/drawing/2014/main" id="{B39CAA4A-B03D-4FF5-8659-D9E5C903A825}"/>
              </a:ext>
            </a:extLst>
          </p:cNvPr>
          <p:cNvSpPr/>
          <p:nvPr/>
        </p:nvSpPr>
        <p:spPr>
          <a:xfrm>
            <a:off x="868680" y="5521812"/>
            <a:ext cx="749808" cy="749808"/>
          </a:xfrm>
          <a:prstGeom prst="ellipse">
            <a:avLst/>
          </a:prstGeom>
          <a:solidFill>
            <a:srgbClr val="16294E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59" name="Image 2" descr="preencoded.png">
            <a:extLst>
              <a:ext uri="{FF2B5EF4-FFF2-40B4-BE49-F238E27FC236}">
                <a16:creationId xmlns:a16="http://schemas.microsoft.com/office/drawing/2014/main" id="{80880504-8212-B9DC-E157-544ABA1ADC0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0704" y="5713836"/>
            <a:ext cx="365760" cy="365760"/>
          </a:xfrm>
          <a:prstGeom prst="rect">
            <a:avLst/>
          </a:prstGeom>
        </p:spPr>
      </p:pic>
      <p:sp>
        <p:nvSpPr>
          <p:cNvPr id="61" name="Text 15">
            <a:extLst>
              <a:ext uri="{FF2B5EF4-FFF2-40B4-BE49-F238E27FC236}">
                <a16:creationId xmlns:a16="http://schemas.microsoft.com/office/drawing/2014/main" id="{226EB5BC-A9C3-C3A5-252F-FB5FE6E1F297}"/>
              </a:ext>
            </a:extLst>
          </p:cNvPr>
          <p:cNvSpPr/>
          <p:nvPr/>
        </p:nvSpPr>
        <p:spPr>
          <a:xfrm>
            <a:off x="1828800" y="54120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2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Esperienza maturata</a:t>
            </a:r>
            <a:endParaRPr lang="en-US" dirty="0"/>
          </a:p>
        </p:txBody>
      </p:sp>
      <p:sp>
        <p:nvSpPr>
          <p:cNvPr id="63" name="Text 16">
            <a:extLst>
              <a:ext uri="{FF2B5EF4-FFF2-40B4-BE49-F238E27FC236}">
                <a16:creationId xmlns:a16="http://schemas.microsoft.com/office/drawing/2014/main" id="{32875C9A-BE94-94B7-A621-EEF7E45E431F}"/>
              </a:ext>
            </a:extLst>
          </p:cNvPr>
          <p:cNvSpPr/>
          <p:nvPr/>
        </p:nvSpPr>
        <p:spPr>
          <a:xfrm>
            <a:off x="1828800" y="5759556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Comprovata esperienza in interventi di emergenza ambientale negli ultimi anni.</a:t>
            </a:r>
            <a:endParaRPr lang="en-US" sz="1400" dirty="0"/>
          </a:p>
        </p:txBody>
      </p:sp>
      <p:sp>
        <p:nvSpPr>
          <p:cNvPr id="65" name="Shape 17">
            <a:extLst>
              <a:ext uri="{FF2B5EF4-FFF2-40B4-BE49-F238E27FC236}">
                <a16:creationId xmlns:a16="http://schemas.microsoft.com/office/drawing/2014/main" id="{5EFEC4D8-02B6-FD5A-1308-F7EA345F9DDB}"/>
              </a:ext>
            </a:extLst>
          </p:cNvPr>
          <p:cNvSpPr/>
          <p:nvPr/>
        </p:nvSpPr>
        <p:spPr>
          <a:xfrm>
            <a:off x="6099048" y="5210916"/>
            <a:ext cx="5303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7" name="Shape 18">
            <a:extLst>
              <a:ext uri="{FF2B5EF4-FFF2-40B4-BE49-F238E27FC236}">
                <a16:creationId xmlns:a16="http://schemas.microsoft.com/office/drawing/2014/main" id="{D55C2674-B2EA-FFF7-9D2A-3E5D1F7C0B95}"/>
              </a:ext>
            </a:extLst>
          </p:cNvPr>
          <p:cNvSpPr/>
          <p:nvPr/>
        </p:nvSpPr>
        <p:spPr>
          <a:xfrm>
            <a:off x="6099048" y="5210916"/>
            <a:ext cx="109728" cy="1371600"/>
          </a:xfrm>
          <a:prstGeom prst="rect">
            <a:avLst/>
          </a:prstGeom>
          <a:solidFill>
            <a:srgbClr val="E3A82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9" name="Shape 19">
            <a:extLst>
              <a:ext uri="{FF2B5EF4-FFF2-40B4-BE49-F238E27FC236}">
                <a16:creationId xmlns:a16="http://schemas.microsoft.com/office/drawing/2014/main" id="{6CB28C13-5FFE-C0FA-1911-B4AEFE86CCA3}"/>
              </a:ext>
            </a:extLst>
          </p:cNvPr>
          <p:cNvSpPr/>
          <p:nvPr/>
        </p:nvSpPr>
        <p:spPr>
          <a:xfrm>
            <a:off x="6419088" y="5521812"/>
            <a:ext cx="749808" cy="749808"/>
          </a:xfrm>
          <a:prstGeom prst="ellipse">
            <a:avLst/>
          </a:prstGeom>
          <a:solidFill>
            <a:srgbClr val="16294E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71" name="Image 3" descr="preencoded.png">
            <a:extLst>
              <a:ext uri="{FF2B5EF4-FFF2-40B4-BE49-F238E27FC236}">
                <a16:creationId xmlns:a16="http://schemas.microsoft.com/office/drawing/2014/main" id="{36D872DA-F4E7-41F8-613C-90B0988BB00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1112" y="5713836"/>
            <a:ext cx="365760" cy="365760"/>
          </a:xfrm>
          <a:prstGeom prst="rect">
            <a:avLst/>
          </a:prstGeom>
        </p:spPr>
      </p:pic>
      <p:sp>
        <p:nvSpPr>
          <p:cNvPr id="73" name="Text 20">
            <a:extLst>
              <a:ext uri="{FF2B5EF4-FFF2-40B4-BE49-F238E27FC236}">
                <a16:creationId xmlns:a16="http://schemas.microsoft.com/office/drawing/2014/main" id="{52A1F605-A02D-31A9-E96A-F2CC606F6817}"/>
              </a:ext>
            </a:extLst>
          </p:cNvPr>
          <p:cNvSpPr/>
          <p:nvPr/>
        </p:nvSpPr>
        <p:spPr>
          <a:xfrm>
            <a:off x="7379208" y="54120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2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Dotazioni tecniche</a:t>
            </a:r>
            <a:endParaRPr lang="en-US" dirty="0"/>
          </a:p>
        </p:txBody>
      </p:sp>
      <p:sp>
        <p:nvSpPr>
          <p:cNvPr id="75" name="Text 21">
            <a:extLst>
              <a:ext uri="{FF2B5EF4-FFF2-40B4-BE49-F238E27FC236}">
                <a16:creationId xmlns:a16="http://schemas.microsoft.com/office/drawing/2014/main" id="{878530BD-E98E-9F3D-52B4-FC55417837A0}"/>
              </a:ext>
            </a:extLst>
          </p:cNvPr>
          <p:cNvSpPr/>
          <p:nvPr/>
        </p:nvSpPr>
        <p:spPr>
          <a:xfrm>
            <a:off x="7379208" y="5759556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Mezzi e attrezzature specializzate: escavatori, pale, pompe idrovore, autocarri pesanti e mezzi galleggianti.</a:t>
            </a:r>
            <a:endParaRPr lang="en-US" sz="1400" dirty="0"/>
          </a:p>
        </p:txBody>
      </p:sp>
      <p:sp>
        <p:nvSpPr>
          <p:cNvPr id="77" name="Text 12">
            <a:extLst>
              <a:ext uri="{FF2B5EF4-FFF2-40B4-BE49-F238E27FC236}">
                <a16:creationId xmlns:a16="http://schemas.microsoft.com/office/drawing/2014/main" id="{6036846C-D361-0A76-17B7-E054B8172B70}"/>
              </a:ext>
            </a:extLst>
          </p:cNvPr>
          <p:cNvSpPr/>
          <p:nvPr/>
        </p:nvSpPr>
        <p:spPr>
          <a:xfrm>
            <a:off x="548640" y="6541935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ANCE Piemonte e Valle d'Aosta  ·  Imprese qualificate per emergenze idrauliche H24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magine 22">
            <a:extLst>
              <a:ext uri="{FF2B5EF4-FFF2-40B4-BE49-F238E27FC236}">
                <a16:creationId xmlns:a16="http://schemas.microsoft.com/office/drawing/2014/main" id="{AC7BFA24-FC92-2530-70E4-5B4653EC0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46988"/>
            <a:ext cx="11064240" cy="5288567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F5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DISTRIBUZIONE TERRITORIALE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162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imprese coprono tutte le province del Piemonte e Valle d'Aosta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3747F6C8-307F-C505-E33D-742901786EF9}"/>
              </a:ext>
            </a:extLst>
          </p:cNvPr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ANCE Piemonte e Valle d'Aosta  ·  Imprese qualificate per emergenze idrauliche H24</a:t>
            </a:r>
            <a:endParaRPr lang="en-US" sz="1050" dirty="0"/>
          </a:p>
        </p:txBody>
      </p:sp>
      <p:pic>
        <p:nvPicPr>
          <p:cNvPr id="25" name="Immagine 24">
            <a:extLst>
              <a:ext uri="{FF2B5EF4-FFF2-40B4-BE49-F238E27FC236}">
                <a16:creationId xmlns:a16="http://schemas.microsoft.com/office/drawing/2014/main" id="{8B849610-F773-BDBC-DAEA-96D723DC78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970" y="3018739"/>
            <a:ext cx="2119505" cy="20856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5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ELENCO IMPRESE PER PROVINCIA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201168" cy="50292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859536" y="65836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Alessandria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949440" y="65836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62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imprese</a:t>
            </a:r>
            <a:r>
              <a:rPr lang="en-US" sz="14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151 addetti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289306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Ragione sociale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Città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Referente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Telefono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E-mail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Add.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SOA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H24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Bacini idrografici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94E"/>
                          </a:solidFill>
                        </a:rPr>
                        <a:t>GIUSTINIANA SRL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GAVI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PASTORINO FRANCES…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0143 682024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sicurezza@giustiniana.com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PO SESIA BORMIDA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94E"/>
                          </a:solidFill>
                        </a:rPr>
                        <a:t>CACCIABUE SRL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MASIO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CACCIABUE PIA GIU…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0131 772455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gare@cacciabuesrl.com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17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PO SESIA DORA BORMIDA TANARO SCRIVIA ORBA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94E"/>
                          </a:solidFill>
                        </a:rPr>
                        <a:t>BOGGERI SPA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CABELLA LIGURE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BOGGERI PAOLO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0143 635755</a:t>
                      </a:r>
                      <a:endParaRPr lang="en-US" sz="750" dirty="0"/>
                    </a:p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3339273965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boggeri@boggeri.it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33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PO SESIA ADDA BORMIDA TANARO DORA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94E"/>
                          </a:solidFill>
                        </a:rPr>
                        <a:t>COS.MO. SRL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SAREZZANO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GIOVANNI DEMICHEL…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0131 884137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info@cosmosrl.biz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12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SCRIVIA OSSONA CURONE GRUE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94E"/>
                          </a:solidFill>
                        </a:rPr>
                        <a:t>ALPE STRADE SRL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MELAZZO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MARIA LUCIA IVALDI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0144 322166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alpe.strade@libero.it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6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PO BORMIDA TANARO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94E"/>
                          </a:solidFill>
                        </a:rPr>
                        <a:t>FRANZOSI CAVE SRL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TORTONA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FRANZOSI ALBERTO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0131 861461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cave@gruppofranzosi.it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30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Esp.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Da conc.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PO BORMIDA TANARO SCRIVIA CURONE BORBERA …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94E"/>
                          </a:solidFill>
                        </a:rPr>
                        <a:t>SIMA COSTRUZIONI SRL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ALESSANDRIA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0131 1713580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info@simacostruzioni.it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10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PO BORMIDA TANARO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94E"/>
                          </a:solidFill>
                        </a:rPr>
                        <a:t>MOVIBIT SRL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TORTONA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QUARELLO CARLO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0131 870038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gare@gruppoquarello.it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5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BORMIDA TANARO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94E"/>
                          </a:solidFill>
                        </a:rPr>
                        <a:t>LERTA e C SRL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FABBRICA CURONE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ERNESTO LERTA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3483146101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info@lerta.it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18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PO BORMIDA TANARO SCRIVIA CURONE BORBERA …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94E"/>
                          </a:solidFill>
                        </a:rPr>
                        <a:t>CESIAF SRL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TORTONA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MARCO FERRARI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3483146102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cesiafsrl@gmail.com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PO BORMIDA TANARO SCRIVIA CURONE BORBERA …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94E"/>
                          </a:solidFill>
                        </a:rPr>
                        <a:t>NUOVE COSTRUZIONI SRL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VISONE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BAGON PIER PAOLO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0144 395817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nuovecostruzioni@gmail.com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8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BORMIDA TANARO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94E"/>
                          </a:solidFill>
                        </a:rPr>
                        <a:t>TORTI PIETRO DI TORTI ANDREA &amp; C SAS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TORTONA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ANDREA TORTI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335 431851</a:t>
                      </a:r>
                      <a:endParaRPr lang="en-US" sz="750" dirty="0"/>
                    </a:p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333 3956304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tortisnc@gmail.com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PO SESIA DORA BORMIDA ADDA TANARO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C1DC3B03-8BDE-C16B-119E-580F82B00580}"/>
              </a:ext>
            </a:extLst>
          </p:cNvPr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ANCE Piemonte e Valle d'Aosta  ·  Imprese qualificate per emergenze idrauliche H24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5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ELENCO IMPRESE PER PROVINCIA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201168" cy="502920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859536" y="65836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Asti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949440" y="65836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62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imprese</a:t>
            </a:r>
            <a:r>
              <a:rPr lang="en-US" sz="14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90 addetti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12573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Ragione sociale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Città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Referente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Telefono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E-mail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Add.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SOA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H24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Bacini idrografici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94E"/>
                          </a:solidFill>
                        </a:rPr>
                        <a:t>CS COSTRUZIONI SRL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ASTI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CARLO FORNACA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3406341430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amministrazione@cscostruzioni.net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30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PO BORMIDA TANARO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94E"/>
                          </a:solidFill>
                        </a:rPr>
                        <a:t>MALABAILA &amp; ARDUINO SPA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VILLAFRANCA D ASTI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PAOLA MALABAILA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0141 943774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paola@malabailaearduino.it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5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PO TANARO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94E"/>
                          </a:solidFill>
                        </a:rPr>
                        <a:t>MONDO SRL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MONTEGROSSO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GIANNI DEVALLE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0141 953056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info@impresamondo.it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20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PO SESIA DORA BORMIDA TANARO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94E"/>
                          </a:solidFill>
                        </a:rPr>
                        <a:t>SARACINO COSTRUZIONI SRL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NIZZA MONFERRATO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SARACINO EMANUELE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0141 721934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info@saracinocostruzioni.it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20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PO SESIA DORA BORMIDA ADDA TANARO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94E"/>
                          </a:solidFill>
                        </a:rPr>
                        <a:t>ROBUR SRL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MONTEGROSSO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ELISIARIO CARPENT…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0141 1713358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impresarobur@gmail.com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15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PO SESIA DORA BORMIDA ADDA TANARO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A942E09C-BFCC-FBA3-E36D-1EE3F35B2652}"/>
              </a:ext>
            </a:extLst>
          </p:cNvPr>
          <p:cNvSpPr/>
          <p:nvPr/>
        </p:nvSpPr>
        <p:spPr>
          <a:xfrm>
            <a:off x="548640" y="3086787"/>
            <a:ext cx="201168" cy="502920"/>
          </a:xfrm>
          <a:prstGeom prst="rect">
            <a:avLst/>
          </a:prstGeom>
          <a:solidFill>
            <a:srgbClr val="0069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37901919-71DB-2DDD-F5B5-D6F1ABEF0277}"/>
              </a:ext>
            </a:extLst>
          </p:cNvPr>
          <p:cNvSpPr/>
          <p:nvPr/>
        </p:nvSpPr>
        <p:spPr>
          <a:xfrm>
            <a:off x="859536" y="3031923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Biella</a:t>
            </a:r>
            <a:endParaRPr lang="en-US" sz="2600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BAE06334-2C50-652D-D218-525AA6D73ADA}"/>
              </a:ext>
            </a:extLst>
          </p:cNvPr>
          <p:cNvSpPr/>
          <p:nvPr/>
        </p:nvSpPr>
        <p:spPr>
          <a:xfrm>
            <a:off x="6949440" y="3031923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62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imprese</a:t>
            </a:r>
            <a:r>
              <a:rPr lang="en-US" sz="14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92 addetti</a:t>
            </a:r>
            <a:endParaRPr lang="en-US" sz="140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D922B648-EEE8-5BA2-329B-074C5AAD19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130111"/>
              </p:ext>
            </p:extLst>
          </p:nvPr>
        </p:nvGraphicFramePr>
        <p:xfrm>
          <a:off x="548640" y="3790875"/>
          <a:ext cx="11091672" cy="203708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Ragione sociale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Città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Referente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Telefono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E-mail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Add.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SOA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H24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Bacini idrografici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94E"/>
                          </a:solidFill>
                        </a:rPr>
                        <a:t>PIDELLO SCAVI SRL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OCCHIEPPO SUPERIO…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PIDELLO EMANUELA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0155 92435</a:t>
                      </a:r>
                      <a:endParaRPr lang="en-US" sz="750" dirty="0"/>
                    </a:p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3355619324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pidello@pidelloscavi.it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7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PO SESIA DORA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94E"/>
                          </a:solidFill>
                        </a:rPr>
                        <a:t>FRATELLI D'AMBROSIO SRL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SAGLIANO MICCA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ALESSANDRO DAMBRO…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015 2477195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info@fratellidambrosio.it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10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PO SESIA DORA BORMIDA ADDA TANARO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94E"/>
                          </a:solidFill>
                        </a:rPr>
                        <a:t>SACCO ESCAVAZIONI SRL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SAN GIACOMO DEL B…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SACCO MAURO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3351313610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info@saccoescavazioni.it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Esp.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SESIA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94E"/>
                          </a:solidFill>
                        </a:rPr>
                        <a:t>RONCHETTA &amp; C SRL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SORDEVOLO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RONCHETTA MARCO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015 2562304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ronchettasrl@libero.it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45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PO SESIA DORA BORMIDA TANARO ELVO CERVO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94E"/>
                          </a:solidFill>
                        </a:rPr>
                        <a:t>CAV. GIOVANNI ASTRUA SRL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MONGRANDO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TESIO ALFREDO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336944865</a:t>
                      </a:r>
                      <a:endParaRPr lang="en-US" sz="750" dirty="0"/>
                    </a:p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3472849955</a:t>
                      </a:r>
                      <a:endParaRPr lang="en-US" sz="750" dirty="0"/>
                    </a:p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015 667684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tesio.astrua@libero.it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7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PO SESIA DORA ELVO CERVO VIONA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94E"/>
                          </a:solidFill>
                        </a:rPr>
                        <a:t>GUGLIOTTA SRL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VIGLIANO BIELLESE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FEDERICO GUGLIOTTA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3355608672</a:t>
                      </a:r>
                      <a:endParaRPr lang="en-US" sz="750" dirty="0"/>
                    </a:p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3355608673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info@gugliottasrl.it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15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PO SESIA DORA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94E"/>
                          </a:solidFill>
                        </a:rPr>
                        <a:t>SCARLATTA SAS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VIGLIANO BIELLESE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UMBERTO SCARLATTA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015 510195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info@scarlattacostruzioni.it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5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SESIA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Text 12">
            <a:extLst>
              <a:ext uri="{FF2B5EF4-FFF2-40B4-BE49-F238E27FC236}">
                <a16:creationId xmlns:a16="http://schemas.microsoft.com/office/drawing/2014/main" id="{C58C7D47-AC5A-EBDC-49E3-1CA738ADE971}"/>
              </a:ext>
            </a:extLst>
          </p:cNvPr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ANCE Piemonte e Valle d'Aosta  ·  Imprese qualificate per emergenze idrauliche H24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5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ELENCO IMPRESE PER PROVINCIA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201168" cy="50292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859536" y="65836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Cuneo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949440" y="65836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62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imprese</a:t>
            </a:r>
            <a:r>
              <a:rPr lang="en-US" sz="14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109 addetti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20955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Ragione sociale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Città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Referente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Telefono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E-mail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Add.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SOA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H24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Bacini idrografici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94E"/>
                          </a:solidFill>
                        </a:rPr>
                        <a:t>LA PASSATORE COSTRUZIONI SRL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CUNEO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FRANCESCO ROSSO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0171682719</a:t>
                      </a:r>
                      <a:endParaRPr lang="en-US" sz="750" dirty="0"/>
                    </a:p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3387484727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info@lapassatore.it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20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PO SESIA DORA BORMIDA ADDA TANARO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94E"/>
                          </a:solidFill>
                        </a:rPr>
                        <a:t>MASSUCCO SRL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CUNEO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MASSUCCO CRISTINA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0171 401225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info@massuccocostruzioni.com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20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PO SESIA DORA BORMIDA ADDA TANARO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94E"/>
                          </a:solidFill>
                        </a:rPr>
                        <a:t>SODA COSTRUZIONI SRL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TORINO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SODA MARCO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0173 75394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info@sodasrl.it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5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PO SESIA DORA BORMIDA ADDA TANARO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94E"/>
                          </a:solidFill>
                        </a:rPr>
                        <a:t>COSTRADE SRL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SALUZZO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LOVERA FRANCO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0175 271002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bravo@costrade.net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10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PO SESIA DORA BORMIDA ADDA TANARO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94E"/>
                          </a:solidFill>
                        </a:rPr>
                        <a:t>SAISEF SPA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MONDOVI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FILIPPO BLENGINI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3457584655</a:t>
                      </a:r>
                      <a:endParaRPr lang="en-US" sz="750" dirty="0"/>
                    </a:p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017440601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filippo.blengini@saisef.com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TANARO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94E"/>
                          </a:solidFill>
                        </a:rPr>
                        <a:t>SOMOTER SRL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BORGO SAN DALMAZZO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OLIVERO LUIGI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0171 266268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tecnico@somoter.com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30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PO DORA TANARO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94E"/>
                          </a:solidFill>
                        </a:rPr>
                        <a:t>GIEMME COSTRUZIONI SRL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BOSCHETTI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GIOVANNI GROSSO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0172 693214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info@gmcostruzioni.it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5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PO TANARO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94E"/>
                          </a:solidFill>
                        </a:rPr>
                        <a:t>BELLORA SAS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SANTO STEFANO BEL…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BELLORA ADELIO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3355747893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info@impresabellora.it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15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PO DORA BORMIDA TANARO BELBO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03470CC8-940F-886E-305E-C698D310F4A9}"/>
              </a:ext>
            </a:extLst>
          </p:cNvPr>
          <p:cNvSpPr/>
          <p:nvPr/>
        </p:nvSpPr>
        <p:spPr>
          <a:xfrm>
            <a:off x="548640" y="3855278"/>
            <a:ext cx="201168" cy="5029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B0F1A2BB-3798-C3D4-BF67-FEA03ECAD411}"/>
              </a:ext>
            </a:extLst>
          </p:cNvPr>
          <p:cNvSpPr/>
          <p:nvPr/>
        </p:nvSpPr>
        <p:spPr>
          <a:xfrm>
            <a:off x="859536" y="3800414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Torino</a:t>
            </a:r>
            <a:endParaRPr lang="en-US" sz="2600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11F7D117-7D10-DB43-F295-427055A867B2}"/>
              </a:ext>
            </a:extLst>
          </p:cNvPr>
          <p:cNvSpPr/>
          <p:nvPr/>
        </p:nvSpPr>
        <p:spPr>
          <a:xfrm>
            <a:off x="6949440" y="3800414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62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imprese</a:t>
            </a:r>
            <a:r>
              <a:rPr lang="en-US" sz="14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143 addetti</a:t>
            </a:r>
            <a:endParaRPr lang="en-US" sz="140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D7B21993-DFF5-B535-F726-DCBD9A6F3B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7546096"/>
              </p:ext>
            </p:extLst>
          </p:nvPr>
        </p:nvGraphicFramePr>
        <p:xfrm>
          <a:off x="548640" y="4559366"/>
          <a:ext cx="11091672" cy="136398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Ragione sociale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Città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Referente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Telefono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E-mail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Add.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SOA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H24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Bacini idrografici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94E"/>
                          </a:solidFill>
                        </a:rPr>
                        <a:t>NORDEX SRL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OZEGNA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CRISTIAN MILANO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0124 36713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amministrazione@nordexsrl.com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30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Esp.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PO SESIA DORA BORMIDA TANARO TORRENTE ORC…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94E"/>
                          </a:solidFill>
                        </a:rPr>
                        <a:t>EFFEDUE SRL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SUSA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FERRUA PAOLA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0122 881229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info@effeduesusa.it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8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DORA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94E"/>
                          </a:solidFill>
                        </a:rPr>
                        <a:t>AGROGREEN SRL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TORINO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CAPITOLO ELENA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011 4501281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ufficiogare@agrogreen.it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5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PO DORA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94E"/>
                          </a:solidFill>
                        </a:rPr>
                        <a:t>BORIO GIACOMO SRL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TORINO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CHIARA BORIO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011 4701953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borio@boriogiacomo.it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50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PO SESIA DORA BORMIDA TANARO STURA DI LAN…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94E"/>
                          </a:solidFill>
                        </a:rPr>
                        <a:t>COGEIS SPA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QUINCINETTO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MICHELE LUCA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0125 635111</a:t>
                      </a:r>
                      <a:endParaRPr lang="en-US" sz="750" dirty="0"/>
                    </a:p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3358320046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cogeis@cogeis.it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50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PO SESIA DORA TOCE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2">
            <a:extLst>
              <a:ext uri="{FF2B5EF4-FFF2-40B4-BE49-F238E27FC236}">
                <a16:creationId xmlns:a16="http://schemas.microsoft.com/office/drawing/2014/main" id="{59F4FE09-3764-991E-7872-4BD0F57D13CC}"/>
              </a:ext>
            </a:extLst>
          </p:cNvPr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ANCE Piemonte e Valle d'Aosta  ·  Imprese qualificate per emergenze idrauliche H24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5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ELENCO IMPRESE PER PROVINCIA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201168" cy="50292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859536" y="65836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Novara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949440" y="65836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62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imprese</a:t>
            </a:r>
            <a:r>
              <a:rPr lang="en-US" sz="14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89 addetti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115062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Ragione sociale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Città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Referente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Telefono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E-mail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Add.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SOA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H24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Bacini idrografici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94E"/>
                          </a:solidFill>
                        </a:rPr>
                        <a:t>VALLOGGIA F.LLI SRL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BORGOMANERO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VALLOGGIA MONICA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3357187278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info@valloggiasrl.it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10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SESIA TICINO AGOGNA TOCE TERDOPPIO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94E"/>
                          </a:solidFill>
                        </a:rPr>
                        <a:t>IMPRESA CARDANI FRANCESCO SRL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NOVARA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BELLE DAVIDE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0321 691142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impresa.cardani@libero.it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25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SESIA TICINO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94E"/>
                          </a:solidFill>
                        </a:rPr>
                        <a:t>IMPRESA CAVE DI CORCONIO SRL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ORTA SAN GIULIO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ENRICO VIGONI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3920770011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evigoni@cavedicorconio.it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40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SESIA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94E"/>
                          </a:solidFill>
                        </a:rPr>
                        <a:t>DE GIULIANI SRL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BORGOMANERO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DE GIULIANI ROSAN…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0322 863497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impresadegiuliani@gmail.com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5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PO SESIA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94E"/>
                          </a:solidFill>
                        </a:rPr>
                        <a:t>BELLANI SRL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ARONA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PAOLO BELLANI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0323 28592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bellani@bellanisrl.it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9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PO SESIA BORMIDA TANARO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AF9D76AF-435C-BDE5-1059-E86F48C59867}"/>
              </a:ext>
            </a:extLst>
          </p:cNvPr>
          <p:cNvSpPr/>
          <p:nvPr/>
        </p:nvSpPr>
        <p:spPr>
          <a:xfrm>
            <a:off x="548640" y="2999240"/>
            <a:ext cx="201168" cy="502920"/>
          </a:xfrm>
          <a:prstGeom prst="rect">
            <a:avLst/>
          </a:prstGeom>
          <a:solidFill>
            <a:srgbClr val="37474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0D6387D5-5FAF-824E-9B6A-096CA2EC2010}"/>
              </a:ext>
            </a:extLst>
          </p:cNvPr>
          <p:cNvSpPr/>
          <p:nvPr/>
        </p:nvSpPr>
        <p:spPr>
          <a:xfrm>
            <a:off x="859536" y="2944376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Vercelli</a:t>
            </a:r>
            <a:endParaRPr lang="en-US" sz="2600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05596129-3B1A-16AC-085A-AD21914F7448}"/>
              </a:ext>
            </a:extLst>
          </p:cNvPr>
          <p:cNvSpPr/>
          <p:nvPr/>
        </p:nvSpPr>
        <p:spPr>
          <a:xfrm>
            <a:off x="6949440" y="2944376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62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imprese</a:t>
            </a:r>
            <a:r>
              <a:rPr lang="en-US" sz="14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102 addetti</a:t>
            </a:r>
            <a:endParaRPr lang="en-US" sz="140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E5116402-B7CC-2D2B-D10E-512256D0D7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7120314"/>
              </p:ext>
            </p:extLst>
          </p:nvPr>
        </p:nvGraphicFramePr>
        <p:xfrm>
          <a:off x="548640" y="3703328"/>
          <a:ext cx="11091672" cy="143002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Ragione sociale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Città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Referente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Telefono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E-mail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Add.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SOA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H24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Bacini idrografici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94E"/>
                          </a:solidFill>
                        </a:rPr>
                        <a:t>IMPRESA SOGNO SRL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GREGGIO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FRANCESCO SOGNO F…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3385877023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francesco.sogno@impresasogno.it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32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SESIA TORRENTE CERVO TORRENTE ELVO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94E"/>
                          </a:solidFill>
                        </a:rPr>
                        <a:t>BERTINI SRL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ALAGNA VALSESIA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NICOLO BERTINI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0163 922984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bertini@bertinicostruzioni.it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30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PO SESIA DORA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94E"/>
                          </a:solidFill>
                        </a:rPr>
                        <a:t>F.LLI DEANDREIS SNC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PALAZZOLO VERCELL…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DEANDREIS DIEGO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3481211084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impresa@deandreiscostruzioni.it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9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PO SESIA DORA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94E"/>
                          </a:solidFill>
                        </a:rPr>
                        <a:t>DEFABIANI SRL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VARALLO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DEFABIANI LUCA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0163 54201</a:t>
                      </a:r>
                      <a:endParaRPr lang="en-US" sz="750" dirty="0"/>
                    </a:p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3482868702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info@impresadefabiani.it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18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PO SESIA DORA BORMIDA ADDA TANARO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94E"/>
                          </a:solidFill>
                        </a:rPr>
                        <a:t>SODIS SRL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QUARONA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ANTONINI CANDIDO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0134 31584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c.antonini@sodissrl.it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10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PO SESIA DORA BORMIDA TANARO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94E"/>
                          </a:solidFill>
                        </a:rPr>
                        <a:t>ISG SRL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ARBORIO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MARCO AGOSTI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3421893167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marco.agosti@gruppoquarello.it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SESIA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Text 12">
            <a:extLst>
              <a:ext uri="{FF2B5EF4-FFF2-40B4-BE49-F238E27FC236}">
                <a16:creationId xmlns:a16="http://schemas.microsoft.com/office/drawing/2014/main" id="{0A0BE385-8546-C658-3612-A1D7E8BFB4D2}"/>
              </a:ext>
            </a:extLst>
          </p:cNvPr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ANCE Piemonte e Valle d'Aosta  ·  Imprese qualificate per emergenze idrauliche H24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5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ELENCO IMPRESE PER PROVINCIA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201168" cy="502920"/>
          </a:xfrm>
          <a:prstGeom prst="rect">
            <a:avLst/>
          </a:prstGeom>
          <a:solidFill>
            <a:srgbClr val="880E4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859536" y="65836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Verbano-Cusio-Ossola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949440" y="65836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62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imprese</a:t>
            </a:r>
            <a:r>
              <a:rPr lang="en-US" sz="14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16 addetti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52578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Ragione sociale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Città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Referente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Telefono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E-mail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Add.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SOA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H24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Bacini idrografici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94E"/>
                          </a:solidFill>
                        </a:rPr>
                        <a:t>OMEGNA SCAVI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OMEGNA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SCARAMOZZA PIERAL…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0323 80482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tecnico@omegnascavi.it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6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PO SESIA ADDA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94E"/>
                          </a:solidFill>
                        </a:rPr>
                        <a:t>FRUA CAV. SPA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VILLADOSSOLA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HUBER MARCO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0324 52771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info@frua.it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10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PO SESIA BORMIDA TANARO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36FC7603-C200-9988-0C5E-8EDAC4783AB3}"/>
              </a:ext>
            </a:extLst>
          </p:cNvPr>
          <p:cNvSpPr/>
          <p:nvPr/>
        </p:nvSpPr>
        <p:spPr>
          <a:xfrm>
            <a:off x="548640" y="2600400"/>
            <a:ext cx="201168" cy="502920"/>
          </a:xfrm>
          <a:prstGeom prst="rect">
            <a:avLst/>
          </a:prstGeom>
          <a:solidFill>
            <a:srgbClr val="82771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EAE55E1D-3124-D356-8D53-E62D15334B25}"/>
              </a:ext>
            </a:extLst>
          </p:cNvPr>
          <p:cNvSpPr/>
          <p:nvPr/>
        </p:nvSpPr>
        <p:spPr>
          <a:xfrm>
            <a:off x="859536" y="2545536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Valle d'Aosta</a:t>
            </a:r>
            <a:endParaRPr lang="en-US" sz="2600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CA8B1D43-3100-3FD4-8773-0EB767CA84C3}"/>
              </a:ext>
            </a:extLst>
          </p:cNvPr>
          <p:cNvSpPr/>
          <p:nvPr/>
        </p:nvSpPr>
        <p:spPr>
          <a:xfrm>
            <a:off x="6949440" y="2545536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62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imprese</a:t>
            </a:r>
            <a:r>
              <a:rPr lang="en-US" sz="14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65 addetti</a:t>
            </a:r>
            <a:endParaRPr lang="en-US" sz="140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1B2F0406-B9D2-0CA6-4CD2-6DE96BA4C5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0170236"/>
              </p:ext>
            </p:extLst>
          </p:nvPr>
        </p:nvGraphicFramePr>
        <p:xfrm>
          <a:off x="548640" y="3304488"/>
          <a:ext cx="11091672" cy="73914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Ragione sociale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Città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Referente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Telefono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E-mail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Add.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SOA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H24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Bacini idrografici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94E"/>
                          </a:solidFill>
                        </a:rPr>
                        <a:t>COSTRUZIONI STRADALI B.G.F. SRL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ISSOGNE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IVO SURROZ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0125 920626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info@gruppobgf.it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35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PO SESIA DORA BORMIDA ADDA TANARO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94E"/>
                          </a:solidFill>
                        </a:rPr>
                        <a:t>IVIES SPA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PONTEY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PAOLO PERRIER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0125 635111</a:t>
                      </a:r>
                      <a:endParaRPr lang="en-US" sz="750" dirty="0"/>
                    </a:p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3358320048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info@ivies-spa.com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30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A2F3D"/>
                          </a:solidFill>
                        </a:rPr>
                        <a:t>Sì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A2F3D"/>
                          </a:solidFill>
                        </a:rPr>
                        <a:t>PO SESIA DORA TOCE</a:t>
                      </a:r>
                      <a:endParaRPr lang="en-US" sz="7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Text 12">
            <a:extLst>
              <a:ext uri="{FF2B5EF4-FFF2-40B4-BE49-F238E27FC236}">
                <a16:creationId xmlns:a16="http://schemas.microsoft.com/office/drawing/2014/main" id="{2E8476BE-5373-B030-BD4E-BC203CF241F7}"/>
              </a:ext>
            </a:extLst>
          </p:cNvPr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ANCE Piemonte e Valle d'Aosta  ·  Imprese qualificate per emergenze idrauliche H24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9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3A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CONSULTAZIONE E CONTATTI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1280160"/>
            <a:ext cx="7589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interattiva sempre aggiornata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26974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L'elenco è consultabile online su mappa, con filtri per provincia, bacino idrografico, reperibilità H24 e qualificazione SOA, e con i contatti diretti di ciascuna impresa.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48640" y="3566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3A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3840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hlinkClick r:id="rId3"/>
              </a:rPr>
              <a:t>https://piemonte.ance.it/2025/10/14/emergenze-idrauliche-ance-piemonte-e-valle-daosta-supporta-il-territorio-con-49-imprese-e-773-addetti-qualificati-per-interventi-immediati/</a:t>
            </a:r>
            <a:r>
              <a:rPr lang="en-US" sz="1400" dirty="0"/>
              <a:t> </a:t>
            </a:r>
          </a:p>
        </p:txBody>
      </p:sp>
      <p:sp>
        <p:nvSpPr>
          <p:cNvPr id="8" name="Text 5"/>
          <p:cNvSpPr/>
          <p:nvPr/>
        </p:nvSpPr>
        <p:spPr>
          <a:xfrm>
            <a:off x="54864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3A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Contatti ANCE Piemonte e Valle d'Aosta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4754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info@ancepiemonte.it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operepubbliche@ancepiemonte.it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595360" y="1371600"/>
            <a:ext cx="3017520" cy="33832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1" name="Image 1" descr="/sessions/stoic-compassionate-carson/mnt/outputs/logo-ance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69680" y="1828800"/>
            <a:ext cx="2468880" cy="5669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732520" y="2697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2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</a:t>
            </a:r>
            <a:r>
              <a:rPr lang="en-US" sz="2200" dirty="0">
                <a:solidFill>
                  <a:srgbClr val="162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imprese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8732520" y="3154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2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857</a:t>
            </a:r>
            <a:r>
              <a:rPr lang="en-US" sz="2200" dirty="0">
                <a:solidFill>
                  <a:srgbClr val="162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addetti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8732520" y="3611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2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r>
              <a:rPr lang="en-US" sz="2200" dirty="0">
                <a:solidFill>
                  <a:srgbClr val="162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province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873252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aggiornati a giugno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1792</Words>
  <Application>Microsoft Office PowerPoint</Application>
  <PresentationFormat>Widescreen</PresentationFormat>
  <Paragraphs>654</Paragraphs>
  <Slides>10</Slides>
  <Notes>10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Imprese qualificate emergenza idraulica</dc:title>
  <dc:subject>PptxGenJS Presentation</dc:subject>
  <dc:creator>ANCE Piemonte e Valle d'Aosta</dc:creator>
  <cp:lastModifiedBy>ANCE Piemonte e Valle d'Aosta ANCE Piemonte e Valle d'Aosta</cp:lastModifiedBy>
  <cp:revision>2</cp:revision>
  <dcterms:created xsi:type="dcterms:W3CDTF">2026-06-22T19:37:07Z</dcterms:created>
  <dcterms:modified xsi:type="dcterms:W3CDTF">2026-06-22T19:58:27Z</dcterms:modified>
</cp:coreProperties>
</file>