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Imprese</c:v>
                </c:pt>
              </c:strCache>
            </c:strRef>
          </c:tx>
          <c:spPr>
            <a:solidFill>
              <a:srgbClr val="16294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16294E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Alessandria</c:v>
                  </c:pt>
                  <c:pt idx="1">
                    <c:v>Cuneo</c:v>
                  </c:pt>
                  <c:pt idx="2">
                    <c:v>Biella</c:v>
                  </c:pt>
                  <c:pt idx="3">
                    <c:v>Vercelli</c:v>
                  </c:pt>
                  <c:pt idx="4">
                    <c:v>Asti</c:v>
                  </c:pt>
                  <c:pt idx="5">
                    <c:v>Novara</c:v>
                  </c:pt>
                  <c:pt idx="6">
                    <c:v>Torino</c:v>
                  </c:pt>
                  <c:pt idx="7">
                    <c:v>Valle d'Aosta</c:v>
                  </c:pt>
                  <c:pt idx="8">
                    <c:v>Verbano-Cusio-Ossola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8</c:v>
                </c:pt>
                <c:pt idx="2">
                  <c:v>7</c:v>
                </c:pt>
                <c:pt idx="3">
                  <c:v>6</c:v>
                </c:pt>
                <c:pt idx="4">
                  <c:v>5</c:v>
                </c:pt>
                <c:pt idx="5">
                  <c:v>5</c:v>
                </c:pt>
                <c:pt idx="6">
                  <c:v>5</c:v>
                </c:pt>
                <c:pt idx="7">
                  <c:v>2</c:v>
                </c:pt>
                <c:pt idx="8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16294E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33384A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9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6294E"/>
          </a:solidFill>
          <a:ln/>
        </p:spPr>
      </p:sp>
      <p:pic>
        <p:nvPicPr>
          <p:cNvPr id="3" name="Image 0" descr="/sessions/stoic-compassionate-carson/mnt/outputs/river_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806440"/>
            <a:ext cx="12191695" cy="82296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548640" y="548640"/>
            <a:ext cx="2286000" cy="71323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5" name="Image 1" descr="/sessions/stoic-compassionate-carson/mnt/outputs/logo-anc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76656" y="713232"/>
            <a:ext cx="2011680" cy="384048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548640" y="201168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3A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EMERGENZE IDRAULICHE  ·  PIEMONTE E VALLE D'AOSTA</a:t>
            </a:r>
            <a:endParaRPr lang="en-US" sz="1300" dirty="0"/>
          </a:p>
        </p:txBody>
      </p:sp>
      <p:sp>
        <p:nvSpPr>
          <p:cNvPr id="7" name="Text 3"/>
          <p:cNvSpPr/>
          <p:nvPr/>
        </p:nvSpPr>
        <p:spPr>
          <a:xfrm>
            <a:off x="548640" y="2468880"/>
            <a:ext cx="1051560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Imprese edili qualificate disponibili H24</a:t>
            </a:r>
            <a:endParaRPr lang="en-US" sz="3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per interventi di emergenza idraulica</a:t>
            </a:r>
            <a:endParaRPr lang="en-US" sz="3400" dirty="0"/>
          </a:p>
        </p:txBody>
      </p:sp>
      <p:sp>
        <p:nvSpPr>
          <p:cNvPr id="8" name="Text 4"/>
          <p:cNvSpPr/>
          <p:nvPr/>
        </p:nvSpPr>
        <p:spPr>
          <a:xfrm>
            <a:off x="548640" y="41148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Elenco operativo georeferenziato delle imprese associate disponibili per interventi urgenti di messa in sicurezza</a:t>
            </a:r>
            <a:endParaRPr lang="en-US" sz="1400" dirty="0"/>
          </a:p>
        </p:txBody>
      </p:sp>
      <p:sp>
        <p:nvSpPr>
          <p:cNvPr id="9" name="Text 5"/>
          <p:cNvSpPr/>
          <p:nvPr/>
        </p:nvSpPr>
        <p:spPr>
          <a:xfrm>
            <a:off x="548640" y="50749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EB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collaborazione con Regione Piemonte · UPI Piemonte · ANCI Piemonte · AIPo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5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PROGETTO IN SINTESI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Una rete di 52 imprese qualificate, pronte a intervenire H24 su tutto il territorio regionale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3474720" cy="1691640"/>
          </a:xfrm>
          <a:prstGeom prst="rect">
            <a:avLst/>
          </a:prstGeom>
          <a:solidFill>
            <a:srgbClr val="16294E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672" y="193852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31520" y="2331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04672" y="3090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3A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IMPRESE QUALIFICATE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270248" y="1691640"/>
            <a:ext cx="3474720" cy="1691640"/>
          </a:xfrm>
          <a:prstGeom prst="rect">
            <a:avLst/>
          </a:prstGeom>
          <a:solidFill>
            <a:srgbClr val="16294E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1938528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4453128" y="2331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857</a:t>
            </a:r>
            <a:endParaRPr lang="en-US" sz="4600" dirty="0"/>
          </a:p>
        </p:txBody>
      </p:sp>
      <p:sp>
        <p:nvSpPr>
          <p:cNvPr id="11" name="Text 7"/>
          <p:cNvSpPr/>
          <p:nvPr/>
        </p:nvSpPr>
        <p:spPr>
          <a:xfrm>
            <a:off x="4526280" y="3090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3A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ADDETTI COMPLESSIVI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91856" y="1691640"/>
            <a:ext cx="3474720" cy="1691640"/>
          </a:xfrm>
          <a:prstGeom prst="rect">
            <a:avLst/>
          </a:prstGeom>
          <a:solidFill>
            <a:srgbClr val="16294E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1938528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8174736" y="2331720"/>
            <a:ext cx="3108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endParaRPr lang="en-US" sz="4600" dirty="0"/>
          </a:p>
        </p:txBody>
      </p:sp>
      <p:sp>
        <p:nvSpPr>
          <p:cNvPr id="15" name="Text 10"/>
          <p:cNvSpPr/>
          <p:nvPr/>
        </p:nvSpPr>
        <p:spPr>
          <a:xfrm>
            <a:off x="8247888" y="3090672"/>
            <a:ext cx="3017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3A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PROVINCE COPERTE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548640" y="3703320"/>
            <a:ext cx="11064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spcAft>
                <a:spcPts val="800"/>
              </a:spcAft>
              <a:buNone/>
            </a:pPr>
            <a:r>
              <a:rPr lang="en-US" sz="14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L'iniziativa, promossa da ANCE Piemonte e Valle d'Aosta in raccordo con Regione Piemonte, UPI, ANCI e AIPo, mette a disposizione degli enti competenti un elenco strutturato e georeferenziato di imprese edili qualificate, disponibili a intervenire in caso di piene improvvise, dissesti idraulici e ostruzioni degli alvei.</a:t>
            </a:r>
            <a:endParaRPr lang="en-US" sz="14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400" dirty="0">
                <a:solidFill>
                  <a:srgbClr val="3338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Obiettivo: ridurre i tempi di attivazione e aumentare l'efficacia degli interventi di emergenza, mettendo a sistema risorse immediate e affidabili a supporto della Protezione Civile, delle Province e dei Comuni.</a:t>
            </a:r>
            <a:endParaRPr lang="en-US" sz="1400" dirty="0"/>
          </a:p>
        </p:txBody>
      </p:sp>
      <p:pic>
        <p:nvPicPr>
          <p:cNvPr id="17" name="Image 3" descr="/sessions/stoic-compassionate-carson/mnt/outputs/river_wav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6144768"/>
            <a:ext cx="12191695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 Piemonte e Valle d'Aosta  ·  Imprese qualificate per emergenze idrauliche H24</a:t>
            </a:r>
            <a:endParaRPr lang="en-US" sz="800" dirty="0"/>
          </a:p>
        </p:txBody>
      </p:sp>
      <p:sp>
        <p:nvSpPr>
          <p:cNvPr id="19" name="Text 13"/>
          <p:cNvSpPr/>
          <p:nvPr/>
        </p:nvSpPr>
        <p:spPr>
          <a:xfrm>
            <a:off x="1118585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5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OBIETTIVI DEL PROGETTO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 obiettivi per garantire interventi rapidi, coordinati e capillari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74720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E2E7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3474720" cy="109728"/>
          </a:xfrm>
          <a:prstGeom prst="rect">
            <a:avLst/>
          </a:prstGeom>
          <a:solidFill>
            <a:srgbClr val="2F5B9C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24028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2E7EF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7280" y="2468880"/>
            <a:ext cx="411480" cy="41148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68680" y="3291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Risposta rapida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868680" y="37947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Garantire interventi immediati in caso di emergenze ambientali su tutto il territorio regionale.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4270248" y="1828800"/>
            <a:ext cx="3474720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E2E7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270248" y="1828800"/>
            <a:ext cx="3474720" cy="109728"/>
          </a:xfrm>
          <a:prstGeom prst="rect">
            <a:avLst/>
          </a:prstGeom>
          <a:solidFill>
            <a:srgbClr val="2F5B9C"/>
          </a:solidFill>
          <a:ln/>
        </p:spPr>
      </p:sp>
      <p:sp>
        <p:nvSpPr>
          <p:cNvPr id="12" name="Shape 9"/>
          <p:cNvSpPr/>
          <p:nvPr/>
        </p:nvSpPr>
        <p:spPr>
          <a:xfrm>
            <a:off x="4590288" y="224028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2E7EF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8888" y="2468880"/>
            <a:ext cx="411480" cy="41148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590288" y="3291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Coordinamento efficace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4590288" y="37947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Facilitare il coordinamento tra Protezione Civile e imprese qualificate per ottimizzare i tempi di intervento.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7991856" y="1828800"/>
            <a:ext cx="3474720" cy="3108960"/>
          </a:xfrm>
          <a:prstGeom prst="rect">
            <a:avLst/>
          </a:prstGeom>
          <a:solidFill>
            <a:srgbClr val="F4F6F8"/>
          </a:solidFill>
          <a:ln w="12700">
            <a:solidFill>
              <a:srgbClr val="E2E7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7991856" y="1828800"/>
            <a:ext cx="3474720" cy="109728"/>
          </a:xfrm>
          <a:prstGeom prst="rect">
            <a:avLst/>
          </a:prstGeom>
          <a:solidFill>
            <a:srgbClr val="2F5B9C"/>
          </a:solidFill>
          <a:ln/>
        </p:spPr>
      </p:sp>
      <p:sp>
        <p:nvSpPr>
          <p:cNvPr id="18" name="Shape 14"/>
          <p:cNvSpPr/>
          <p:nvPr/>
        </p:nvSpPr>
        <p:spPr>
          <a:xfrm>
            <a:off x="8311896" y="2240280"/>
            <a:ext cx="868680" cy="86868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E2E7EF"/>
            </a:solidFill>
            <a:prstDash val="solid"/>
          </a:ln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0496" y="2468880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8311896" y="32918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Copertura territoriale</a:t>
            </a:r>
            <a:endParaRPr lang="en-US" sz="1700" dirty="0"/>
          </a:p>
        </p:txBody>
      </p:sp>
      <p:sp>
        <p:nvSpPr>
          <p:cNvPr id="21" name="Text 16"/>
          <p:cNvSpPr/>
          <p:nvPr/>
        </p:nvSpPr>
        <p:spPr>
          <a:xfrm>
            <a:off x="8311896" y="37947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Assicurare una distribuzione capillare delle imprese qualificate in tutte le province piemontesi e valdostane.</a:t>
            </a:r>
            <a:endParaRPr lang="en-US" sz="1250" dirty="0"/>
          </a:p>
        </p:txBody>
      </p:sp>
      <p:sp>
        <p:nvSpPr>
          <p:cNvPr id="22" name="Text 17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 Piemonte e Valle d'Aosta  ·  Imprese qualificate per emergenze idrauliche H24</a:t>
            </a:r>
            <a:endParaRPr lang="en-US" sz="800" dirty="0"/>
          </a:p>
        </p:txBody>
      </p:sp>
      <p:sp>
        <p:nvSpPr>
          <p:cNvPr id="23" name="Text 18"/>
          <p:cNvSpPr/>
          <p:nvPr/>
        </p:nvSpPr>
        <p:spPr>
          <a:xfrm>
            <a:off x="1118585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5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REQUISITI DELLE IMPRESE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Ogni impresa dell'elenco risponde a quattro requisiti operativi</a:t>
            </a:r>
            <a:endParaRPr lang="en-US" sz="23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5303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1828800"/>
            <a:ext cx="109728" cy="1371600"/>
          </a:xfrm>
          <a:prstGeom prst="rect">
            <a:avLst/>
          </a:prstGeom>
          <a:solidFill>
            <a:srgbClr val="E3A82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2139696"/>
            <a:ext cx="749808" cy="749808"/>
          </a:xfrm>
          <a:prstGeom prst="ellipse">
            <a:avLst/>
          </a:prstGeom>
          <a:solidFill>
            <a:srgbClr val="16294E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" y="23317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20299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Attestazione SOA</a:t>
            </a:r>
            <a:endParaRPr lang="en-US" sz="1550" dirty="0"/>
          </a:p>
        </p:txBody>
      </p:sp>
      <p:sp>
        <p:nvSpPr>
          <p:cNvPr id="9" name="Text 6"/>
          <p:cNvSpPr/>
          <p:nvPr/>
        </p:nvSpPr>
        <p:spPr>
          <a:xfrm>
            <a:off x="1828800" y="237744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Possesso di attestazione SOA per interventi di manutenzione idraulica o, in alternativa, comprovata esperienza pregressa.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099048" y="1828800"/>
            <a:ext cx="5303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6099048" y="1828800"/>
            <a:ext cx="109728" cy="1371600"/>
          </a:xfrm>
          <a:prstGeom prst="rect">
            <a:avLst/>
          </a:prstGeom>
          <a:solidFill>
            <a:srgbClr val="E3A82B"/>
          </a:solidFill>
          <a:ln/>
        </p:spPr>
      </p:sp>
      <p:sp>
        <p:nvSpPr>
          <p:cNvPr id="12" name="Shape 9"/>
          <p:cNvSpPr/>
          <p:nvPr/>
        </p:nvSpPr>
        <p:spPr>
          <a:xfrm>
            <a:off x="6419088" y="2139696"/>
            <a:ext cx="749808" cy="749808"/>
          </a:xfrm>
          <a:prstGeom prst="ellipse">
            <a:avLst/>
          </a:prstGeom>
          <a:solidFill>
            <a:srgbClr val="16294E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1112" y="2331720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379208" y="2029968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Disponibilità H24</a:t>
            </a:r>
            <a:endParaRPr lang="en-US" sz="1550" dirty="0"/>
          </a:p>
        </p:txBody>
      </p:sp>
      <p:sp>
        <p:nvSpPr>
          <p:cNvPr id="15" name="Text 11"/>
          <p:cNvSpPr/>
          <p:nvPr/>
        </p:nvSpPr>
        <p:spPr>
          <a:xfrm>
            <a:off x="7379208" y="2377440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Reperibilità continua e capacità di attivazione entro 2 ore dalla chiamata.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548640" y="3401568"/>
            <a:ext cx="5303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F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548640" y="3401568"/>
            <a:ext cx="109728" cy="1371600"/>
          </a:xfrm>
          <a:prstGeom prst="rect">
            <a:avLst/>
          </a:prstGeom>
          <a:solidFill>
            <a:srgbClr val="E3A82B"/>
          </a:solidFill>
          <a:ln/>
        </p:spPr>
      </p:sp>
      <p:sp>
        <p:nvSpPr>
          <p:cNvPr id="18" name="Shape 14"/>
          <p:cNvSpPr/>
          <p:nvPr/>
        </p:nvSpPr>
        <p:spPr>
          <a:xfrm>
            <a:off x="868680" y="3712464"/>
            <a:ext cx="749808" cy="749808"/>
          </a:xfrm>
          <a:prstGeom prst="ellipse">
            <a:avLst/>
          </a:prstGeom>
          <a:solidFill>
            <a:srgbClr val="16294E"/>
          </a:solidFill>
          <a:ln/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60704" y="3904488"/>
            <a:ext cx="365760" cy="36576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828800" y="36027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Esperienza maturata</a:t>
            </a:r>
            <a:endParaRPr lang="en-US" sz="1550" dirty="0"/>
          </a:p>
        </p:txBody>
      </p:sp>
      <p:sp>
        <p:nvSpPr>
          <p:cNvPr id="21" name="Text 16"/>
          <p:cNvSpPr/>
          <p:nvPr/>
        </p:nvSpPr>
        <p:spPr>
          <a:xfrm>
            <a:off x="1828800" y="395020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Comprovata esperienza in interventi di emergenza ambientale negli ultimi anni.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6099048" y="3401568"/>
            <a:ext cx="530352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F"/>
            </a:solidFill>
            <a:prstDash val="solid"/>
          </a:ln>
        </p:spPr>
      </p:sp>
      <p:sp>
        <p:nvSpPr>
          <p:cNvPr id="23" name="Shape 18"/>
          <p:cNvSpPr/>
          <p:nvPr/>
        </p:nvSpPr>
        <p:spPr>
          <a:xfrm>
            <a:off x="6099048" y="3401568"/>
            <a:ext cx="109728" cy="1371600"/>
          </a:xfrm>
          <a:prstGeom prst="rect">
            <a:avLst/>
          </a:prstGeom>
          <a:solidFill>
            <a:srgbClr val="E3A82B"/>
          </a:solidFill>
          <a:ln/>
        </p:spPr>
      </p:sp>
      <p:sp>
        <p:nvSpPr>
          <p:cNvPr id="24" name="Shape 19"/>
          <p:cNvSpPr/>
          <p:nvPr/>
        </p:nvSpPr>
        <p:spPr>
          <a:xfrm>
            <a:off x="6419088" y="3712464"/>
            <a:ext cx="749808" cy="749808"/>
          </a:xfrm>
          <a:prstGeom prst="ellipse">
            <a:avLst/>
          </a:prstGeom>
          <a:solidFill>
            <a:srgbClr val="16294E"/>
          </a:solidFill>
          <a:ln/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11112" y="3904488"/>
            <a:ext cx="365760" cy="36576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7379208" y="3602736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Dotazioni tecniche</a:t>
            </a:r>
            <a:endParaRPr lang="en-US" sz="1550" dirty="0"/>
          </a:p>
        </p:txBody>
      </p:sp>
      <p:sp>
        <p:nvSpPr>
          <p:cNvPr id="27" name="Text 21"/>
          <p:cNvSpPr/>
          <p:nvPr/>
        </p:nvSpPr>
        <p:spPr>
          <a:xfrm>
            <a:off x="7379208" y="3950208"/>
            <a:ext cx="3886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3A42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Mezzi e attrezzature specializzate: escavatori, pale, pompe idrovore, autocarri pesanti e mezzi galleggianti.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 Piemonte e Valle d'Aosta  ·  Imprese qualificate per emergenze idrauliche H24</a:t>
            </a:r>
            <a:endParaRPr lang="en-US" sz="800" dirty="0"/>
          </a:p>
        </p:txBody>
      </p:sp>
      <p:sp>
        <p:nvSpPr>
          <p:cNvPr id="29" name="Text 23"/>
          <p:cNvSpPr/>
          <p:nvPr/>
        </p:nvSpPr>
        <p:spPr>
          <a:xfrm>
            <a:off x="1118585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5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 TERRITORIALE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3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imprese coprono tutte e nove le province di Piemonte e Valle d'Aosta</a:t>
            </a:r>
            <a:endParaRPr lang="en-US" sz="23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91640"/>
          <a:ext cx="694944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691640"/>
            <a:ext cx="3867912" cy="4572000"/>
          </a:xfrm>
          <a:prstGeom prst="rect">
            <a:avLst/>
          </a:prstGeom>
          <a:solidFill>
            <a:srgbClr val="F4F6F8"/>
          </a:solidFill>
          <a:ln/>
        </p:spPr>
      </p:sp>
      <p:sp>
        <p:nvSpPr>
          <p:cNvPr id="6" name="Text 3"/>
          <p:cNvSpPr/>
          <p:nvPr/>
        </p:nvSpPr>
        <p:spPr>
          <a:xfrm>
            <a:off x="8046720" y="19659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5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EVIDENZA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046720" y="237744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Alessandria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0" y="276148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A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imprese · 151 addetti</a:t>
            </a:r>
            <a:endParaRPr lang="en-US" sz="1250" dirty="0"/>
          </a:p>
        </p:txBody>
      </p:sp>
      <p:sp>
        <p:nvSpPr>
          <p:cNvPr id="9" name="Text 6"/>
          <p:cNvSpPr/>
          <p:nvPr/>
        </p:nvSpPr>
        <p:spPr>
          <a:xfrm>
            <a:off x="8046720" y="30358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provincia più rappresentata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8046720" y="3584448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Torino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046720" y="3968496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A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143 addetti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046720" y="4242816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maggior numero di addetti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8046720" y="4791456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 imprese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046720" y="517550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3A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857 addetti</a:t>
            </a:r>
            <a:endParaRPr lang="en-US" sz="1250" dirty="0"/>
          </a:p>
        </p:txBody>
      </p:sp>
      <p:sp>
        <p:nvSpPr>
          <p:cNvPr id="15" name="Text 12"/>
          <p:cNvSpPr/>
          <p:nvPr/>
        </p:nvSpPr>
        <p:spPr>
          <a:xfrm>
            <a:off x="8046720" y="5449824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capacità operativa complessiva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 Piemonte e Valle d'Aosta  ·  Imprese qualificate per emergenze idrauliche H24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1118585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5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ELENCO IMPRESE PER PROVINCIA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13232"/>
            <a:ext cx="201168" cy="502920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4" name="Text 2"/>
          <p:cNvSpPr/>
          <p:nvPr/>
        </p:nvSpPr>
        <p:spPr>
          <a:xfrm>
            <a:off x="859536" y="65836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Alessandria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949440" y="6583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imprese</a:t>
            </a:r>
            <a:pPr algn="r" indent="0" marL="0">
              <a:buNone/>
            </a:pPr>
            <a:r>
              <a:rPr lang="en-US" sz="14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151 addetti</a:t>
            </a:r>
            <a:endParaRPr lang="en-US" sz="14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325880"/>
                <a:gridCol w="1371600"/>
                <a:gridCol w="1965960"/>
                <a:gridCol w="457200"/>
                <a:gridCol w="502920"/>
                <a:gridCol w="548640"/>
                <a:gridCol w="1627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Ragione sociale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Città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Referente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Telefono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E-mail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Add.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SOA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H24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Bacini idrografici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GIUSTINIANA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GAVI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PASTORINO FRANCES…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0143 682024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sicurezza@giustiniana.com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BORMIDA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CACCIABUE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MASIO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CACCIABUE PIA GIU…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0131 772455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gare@cacciabuesrl.com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17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TANARO SCRIVIA ORBA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BOGGERI SPA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CABELLA LIGURE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BOGGERI PAOLO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0143 635755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3339273965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boggeri@boggeri.it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33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ADDA BORMIDA TANARO DORA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COS.MO.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SAREZZANO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GIOVANNI DEMICHEL…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0131 884137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info@cosmosrl.biz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12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SCRIVIA OSSONA CURONE GRUE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ALPE STRADE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MELAZZO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MARIA LUCIA IVALDI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0144 322166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alpe.strade@libero.it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BORMIDA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FRANZOSI CAVE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TORTONA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FRANZOSI ALBERTO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0131 861461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cave@gruppofranzosi.it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30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Esp.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Da conc.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BORMIDA TANARO SCRIVIA CURONE BORBERA …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SIMA COSTRUZIONI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ALESSANDRIA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0131 1713580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info@simacostruzioni.it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BORMIDA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MOVIBIT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TORTONA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QUARELLO CARLO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0131 870038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gare@gruppoquarello.it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BORMIDA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LERTA e C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FABBRICA CURONE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ERNESTO LERTA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3483146101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info@lerta.it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18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BORMIDA TANARO SCRIVIA CURONE BORBERA …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CESIAF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TORTONA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MARCO FERRARI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3483146102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cesiafsrl@gmail.com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BORMIDA TANARO SCRIVIA CURONE BORBERA …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NUOVE COSTRUZIONI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VISONE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BAGON PIER PAOLO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0144 395817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nuovecostruzioni@gmail.com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BORMIDA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TORTI PIETRO DI TORTI ANDREA &amp; C SAS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TORTONA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ANDREA TORTI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335 431851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333 3956304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tortisnc@gmail.com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ADDA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2910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SOA: «Esp.» = esperienza pregressa in assenza di attestazione · Tutte dotate di escavatori, pale, pompe idrovore e autocarri salvo diversa indicazione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 Piemonte e Valle d'Aosta  ·  Imprese qualificate per emergenze idrauliche H24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18585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5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ELENCO IMPRESE PER PROVINCIA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13232"/>
            <a:ext cx="201168" cy="502920"/>
          </a:xfrm>
          <a:prstGeom prst="rect">
            <a:avLst/>
          </a:prstGeom>
          <a:solidFill>
            <a:srgbClr val="6A1B9A"/>
          </a:solidFill>
          <a:ln/>
        </p:spPr>
      </p:sp>
      <p:sp>
        <p:nvSpPr>
          <p:cNvPr id="4" name="Text 2"/>
          <p:cNvSpPr/>
          <p:nvPr/>
        </p:nvSpPr>
        <p:spPr>
          <a:xfrm>
            <a:off x="859536" y="65836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Asti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949440" y="6583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imprese</a:t>
            </a:r>
            <a:pPr algn="r" indent="0" marL="0">
              <a:buNone/>
            </a:pPr>
            <a:r>
              <a:rPr lang="en-US" sz="14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90 addetti</a:t>
            </a:r>
            <a:endParaRPr lang="en-US" sz="14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325880"/>
                <a:gridCol w="1371600"/>
                <a:gridCol w="1965960"/>
                <a:gridCol w="457200"/>
                <a:gridCol w="502920"/>
                <a:gridCol w="548640"/>
                <a:gridCol w="1627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Ragione sociale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Città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Referente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Telefono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E-mail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Add.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SOA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H24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Bacini idrografici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CS COSTRUZIONI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ASTI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CARLO FORNACA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3406341430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amministrazione@cscostruzioni.net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30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BORMIDA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MALABAILA &amp; ARDUINO SPA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VILLAFRANCA D ASTI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PAOLA MALABAILA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0141 943774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paola@malabailaearduino.it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No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MONDO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MONTEGROSSO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GIANNI DEVALLE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0141 953056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info@impresamondo.it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20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SARACINO COSTRUZIONI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NIZZA MONFERRATO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SARACINO EMANUELE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0141 721934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info@saracinocostruzioni.it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20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ADDA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ROBUR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MONTEGROSSO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ELISIARIO CARPENT…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0141 1713358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impresarobur@gmail.com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15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ADDA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2910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SOA: «Esp.» = esperienza pregressa in assenza di attestazione · Tutte dotate di escavatori, pale, pompe idrovore e autocarri salvo diversa indicazione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 Piemonte e Valle d'Aosta  ·  Imprese qualificate per emergenze idrauliche H24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18585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5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ELENCO IMPRESE PER PROVINCIA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13232"/>
            <a:ext cx="201168" cy="502920"/>
          </a:xfrm>
          <a:prstGeom prst="rect">
            <a:avLst/>
          </a:prstGeom>
          <a:solidFill>
            <a:srgbClr val="00695C"/>
          </a:solidFill>
          <a:ln/>
        </p:spPr>
      </p:sp>
      <p:sp>
        <p:nvSpPr>
          <p:cNvPr id="4" name="Text 2"/>
          <p:cNvSpPr/>
          <p:nvPr/>
        </p:nvSpPr>
        <p:spPr>
          <a:xfrm>
            <a:off x="859536" y="65836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Biella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949440" y="6583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imprese</a:t>
            </a:r>
            <a:pPr algn="r" indent="0" marL="0">
              <a:buNone/>
            </a:pPr>
            <a:r>
              <a:rPr lang="en-US" sz="14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92 addetti</a:t>
            </a:r>
            <a:endParaRPr lang="en-US" sz="14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325880"/>
                <a:gridCol w="1371600"/>
                <a:gridCol w="1965960"/>
                <a:gridCol w="457200"/>
                <a:gridCol w="502920"/>
                <a:gridCol w="548640"/>
                <a:gridCol w="1627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Ragione sociale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Città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Referente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Telefono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E-mail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Add.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SOA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H24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Bacini idrografici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PIDELLO SCAVI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OCCHIEPPO SUPERIO…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PIDELLO EMANUELA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0155 92435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3355619324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pidello@pidelloscavi.it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FRATELLI D'AMBROSIO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SAGLIANO MICCA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ALESSANDRO DAMBRO…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015 2477195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info@fratellidambrosio.it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ADDA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SACCO ESCAVAZIONI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SAN GIACOMO DEL B…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SACCO MAURO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3351313610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info@saccoescavazioni.it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Esp.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SESIA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RONCHETTA &amp; C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SORDEVOLO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RONCHETTA MARCO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015 2562304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ronchettasrl@libero.it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45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TANARO ELVO CERVO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CAV. GIOVANNI ASTRUA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MONGRANDO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TESIO ALFREDO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336944865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3472849955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015 667684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tesio.astrua@libero.it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7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ELVO CERVO VIONA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GUGLIOTTA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VIGLIANO BIELLESE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FEDERICO GUGLIOTTA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3355608672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3355608673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info@gugliottasrl.it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15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SCARLATTA SAS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VIGLIANO BIELLESE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UMBERTO SCARLATTA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015 510195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info@scarlattacostruzioni.it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SESIA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2910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SOA: «Esp.» = esperienza pregressa in assenza di attestazione · Tutte dotate di escavatori, pale, pompe idrovore e autocarri salvo diversa indicazione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 Piemonte e Valle d'Aosta  ·  Imprese qualificate per emergenze idrauliche H24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18585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5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ELENCO IMPRESE PER PROVINCIA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13232"/>
            <a:ext cx="201168" cy="502920"/>
          </a:xfrm>
          <a:prstGeom prst="rect">
            <a:avLst/>
          </a:prstGeom>
          <a:solidFill>
            <a:srgbClr val="E65100"/>
          </a:solidFill>
          <a:ln/>
        </p:spPr>
      </p:sp>
      <p:sp>
        <p:nvSpPr>
          <p:cNvPr id="4" name="Text 2"/>
          <p:cNvSpPr/>
          <p:nvPr/>
        </p:nvSpPr>
        <p:spPr>
          <a:xfrm>
            <a:off x="859536" y="65836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Cuneo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949440" y="6583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imprese</a:t>
            </a:r>
            <a:pPr algn="r" indent="0" marL="0">
              <a:buNone/>
            </a:pPr>
            <a:r>
              <a:rPr lang="en-US" sz="14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109 addetti</a:t>
            </a:r>
            <a:endParaRPr lang="en-US" sz="14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325880"/>
                <a:gridCol w="1371600"/>
                <a:gridCol w="1965960"/>
                <a:gridCol w="457200"/>
                <a:gridCol w="502920"/>
                <a:gridCol w="548640"/>
                <a:gridCol w="1627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Ragione sociale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Città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Referente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Telefono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E-mail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Add.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SOA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H24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Bacini idrografici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LA PASSATORE COSTRUZIONI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CUNEO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FRANCESCO ROSSO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0171682719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3387484727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info@lapassatore.it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20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ADDA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MASSUCCO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CUNEO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MASSUCCO CRISTINA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0171 401225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info@massuccocostruzioni.com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20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ADDA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SODA COSTRUZIONI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TORINO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SODA MARCO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0173 75394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info@sodasrl.it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ADDA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COSTRADE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SALUZZO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LOVERA FRANCO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0175 271002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bravo@costrade.net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ADDA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SAISEF SPA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MONDOVI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FILIPPO BLENGINI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3457584655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017440601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filippo.blengini@saisef.com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4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SOMOTER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BORGO SAN DALMAZZO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OLIVERO LUIGI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0171 266268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tecnico@somoter.com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30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DORA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GIEMME COSTRUZIONI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BOSCHETTI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GIOVANNI GROSSO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0172 693214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info@gmcostruzioni.it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No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BELLORA SAS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SANTO STEFANO BEL…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BELLORA ADELIO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3355747893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info@impresabellora.it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15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DORA BORMIDA TANARO BELBO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2910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SOA: «Esp.» = esperienza pregressa in assenza di attestazione · Tutte dotate di escavatori, pale, pompe idrovore e autocarri salvo diversa indicazione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 Piemonte e Valle d'Aosta  ·  Imprese qualificate per emergenze idrauliche H24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18585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5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ELENCO IMPRESE PER PROVINCIA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13232"/>
            <a:ext cx="201168" cy="502920"/>
          </a:xfrm>
          <a:prstGeom prst="rect">
            <a:avLst/>
          </a:prstGeom>
          <a:solidFill>
            <a:srgbClr val="1B5E20"/>
          </a:solidFill>
          <a:ln/>
        </p:spPr>
      </p:sp>
      <p:sp>
        <p:nvSpPr>
          <p:cNvPr id="4" name="Text 2"/>
          <p:cNvSpPr/>
          <p:nvPr/>
        </p:nvSpPr>
        <p:spPr>
          <a:xfrm>
            <a:off x="859536" y="65836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Novara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949440" y="6583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imprese</a:t>
            </a:r>
            <a:pPr algn="r" indent="0" marL="0">
              <a:buNone/>
            </a:pPr>
            <a:r>
              <a:rPr lang="en-US" sz="14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89 addetti</a:t>
            </a:r>
            <a:endParaRPr lang="en-US" sz="14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325880"/>
                <a:gridCol w="1371600"/>
                <a:gridCol w="1965960"/>
                <a:gridCol w="457200"/>
                <a:gridCol w="502920"/>
                <a:gridCol w="548640"/>
                <a:gridCol w="1627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Ragione sociale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Città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Referente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Telefono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E-mail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Add.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SOA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H24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Bacini idrografici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VALLOGGIA F.LLI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BORGOMANERO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VALLOGGIA MONICA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3357187278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info@valloggiasrl.it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SESIA TICINO AGOGNA TOCE TERDOPPIO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IMPRESA CARDANI FRANCESCO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NOVARA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BELLE DAVIDE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0321 691142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impresa.cardani@libero.it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25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SESIA TICINO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IMPRESA CAVE DI CORCONIO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ORTA SAN GIULIO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ENRICO VIGONI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3920770011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evigoni@cavedicorconio.it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40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No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SESIA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DE GIULIANI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BORGOMANERO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DE GIULIANI ROSAN…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0322 863497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impresadegiuliani@gmail.com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BELLANI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ARONA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PAOLO BELLANI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0323 28592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bellani@bellanisrl.it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BORMIDA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2910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SOA: «Esp.» = esperienza pregressa in assenza di attestazione · Tutte dotate di escavatori, pale, pompe idrovore e autocarri salvo diversa indicazione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 Piemonte e Valle d'Aosta  ·  Imprese qualificate per emergenze idrauliche H24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18585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5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ELENCO IMPRESE PER PROVINCIA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13232"/>
            <a:ext cx="201168" cy="502920"/>
          </a:xfrm>
          <a:prstGeom prst="rect">
            <a:avLst/>
          </a:prstGeom>
          <a:solidFill>
            <a:srgbClr val="1565C0"/>
          </a:solidFill>
          <a:ln/>
        </p:spPr>
      </p:sp>
      <p:sp>
        <p:nvSpPr>
          <p:cNvPr id="4" name="Text 2"/>
          <p:cNvSpPr/>
          <p:nvPr/>
        </p:nvSpPr>
        <p:spPr>
          <a:xfrm>
            <a:off x="859536" y="65836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Torino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949440" y="6583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imprese</a:t>
            </a:r>
            <a:pPr algn="r" indent="0" marL="0">
              <a:buNone/>
            </a:pPr>
            <a:r>
              <a:rPr lang="en-US" sz="14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143 addetti</a:t>
            </a:r>
            <a:endParaRPr lang="en-US" sz="14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325880"/>
                <a:gridCol w="1371600"/>
                <a:gridCol w="1965960"/>
                <a:gridCol w="457200"/>
                <a:gridCol w="502920"/>
                <a:gridCol w="548640"/>
                <a:gridCol w="1627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Ragione sociale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Città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Referente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Telefono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E-mail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Add.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SOA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H24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Bacini idrografici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NORDEX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OZEGNA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CRISTIAN MILANO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0124 36713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amministrazione@nordexsrl.com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30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Esp.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TANARO TORRENTE ORC…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EFFEDUE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SUSA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FERRUA PAOLA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0122 881229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info@effeduesusa.it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8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DORA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AGROGREEN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TORINO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CAPITOLO ELENA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011 4501281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ufficiogare@agrogreen.it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5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DORA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BORIO GIACOMO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TORINO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CHIARA BORIO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011 4701953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borio@boriogiacomo.it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50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TANARO STURA DI LAN…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COGEIS SPA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QUINCINETTO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MICHELE LUCA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0125 635111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3358320046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cogeis@cogeis.it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50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TOCE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2910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SOA: «Esp.» = esperienza pregressa in assenza di attestazione · Tutte dotate di escavatori, pale, pompe idrovore e autocarri salvo diversa indicazione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 Piemonte e Valle d'Aosta  ·  Imprese qualificate per emergenze idrauliche H24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18585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5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ELENCO IMPRESE PER PROVINCIA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13232"/>
            <a:ext cx="201168" cy="502920"/>
          </a:xfrm>
          <a:prstGeom prst="rect">
            <a:avLst/>
          </a:prstGeom>
          <a:solidFill>
            <a:srgbClr val="827717"/>
          </a:solidFill>
          <a:ln/>
        </p:spPr>
      </p:sp>
      <p:sp>
        <p:nvSpPr>
          <p:cNvPr id="4" name="Text 2"/>
          <p:cNvSpPr/>
          <p:nvPr/>
        </p:nvSpPr>
        <p:spPr>
          <a:xfrm>
            <a:off x="859536" y="65836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Valle d'Aosta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949440" y="6583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imprese</a:t>
            </a:r>
            <a:pPr algn="r" indent="0" marL="0">
              <a:buNone/>
            </a:pPr>
            <a:r>
              <a:rPr lang="en-US" sz="14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65 addetti</a:t>
            </a:r>
            <a:endParaRPr lang="en-US" sz="14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325880"/>
                <a:gridCol w="1371600"/>
                <a:gridCol w="1965960"/>
                <a:gridCol w="457200"/>
                <a:gridCol w="502920"/>
                <a:gridCol w="548640"/>
                <a:gridCol w="1627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Ragione sociale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Città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Referente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Telefono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E-mail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Add.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SOA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H24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Bacini idrografici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COSTRUZIONI STRADALI B.G.F.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ISSOGNE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IVO SURROZ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0125 920626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info@gruppobgf.it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35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ADDA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IVIES SPA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PONTEY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PAOLO PERRIER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0125 635111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3358320048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info@ivies-spa.com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30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TOCE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2910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SOA: «Esp.» = esperienza pregressa in assenza di attestazione · Tutte dotate di escavatori, pale, pompe idrovore e autocarri salvo diversa indicazione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 Piemonte e Valle d'Aosta  ·  Imprese qualificate per emergenze idrauliche H24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18585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5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ELENCO IMPRESE PER PROVINCIA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13232"/>
            <a:ext cx="201168" cy="502920"/>
          </a:xfrm>
          <a:prstGeom prst="rect">
            <a:avLst/>
          </a:prstGeom>
          <a:solidFill>
            <a:srgbClr val="880E4F"/>
          </a:solidFill>
          <a:ln/>
        </p:spPr>
      </p:sp>
      <p:sp>
        <p:nvSpPr>
          <p:cNvPr id="4" name="Text 2"/>
          <p:cNvSpPr/>
          <p:nvPr/>
        </p:nvSpPr>
        <p:spPr>
          <a:xfrm>
            <a:off x="859536" y="65836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Verbano-Cusio-Ossola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949440" y="6583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imprese</a:t>
            </a:r>
            <a:pPr algn="r" indent="0" marL="0">
              <a:buNone/>
            </a:pPr>
            <a:r>
              <a:rPr lang="en-US" sz="14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16 addetti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325880"/>
                <a:gridCol w="1371600"/>
                <a:gridCol w="1965960"/>
                <a:gridCol w="457200"/>
                <a:gridCol w="502920"/>
                <a:gridCol w="548640"/>
                <a:gridCol w="1627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Ragione sociale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Città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Referente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Telefono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E-mail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Add.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SOA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H24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Bacini idrografici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OMEGNA SCAVI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OMEGNA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SCARAMOZZA PIERAL…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0323 80482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tecnico@omegnascavi.it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6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ADDA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FRUA CAV. SPA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VILLADOSSOLA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HUBER MARCO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0324 52771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info@frua.it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BORMIDA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2910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SOA: «Esp.» = esperienza pregressa in assenza di attestazione · Tutte dotate di escavatori, pale, pompe idrovore e autocarri salvo diversa indicazione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 Piemonte e Valle d'Aosta  ·  Imprese qualificate per emergenze idrauliche H24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18585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2F5B9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ELENCO IMPRESE PER PROVINCIA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13232"/>
            <a:ext cx="201168" cy="502920"/>
          </a:xfrm>
          <a:prstGeom prst="rect">
            <a:avLst/>
          </a:prstGeom>
          <a:solidFill>
            <a:srgbClr val="37474F"/>
          </a:solidFill>
          <a:ln/>
        </p:spPr>
      </p:sp>
      <p:sp>
        <p:nvSpPr>
          <p:cNvPr id="4" name="Text 2"/>
          <p:cNvSpPr/>
          <p:nvPr/>
        </p:nvSpPr>
        <p:spPr>
          <a:xfrm>
            <a:off x="859536" y="658368"/>
            <a:ext cx="6400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Vercelli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949440" y="658368"/>
            <a:ext cx="4663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16294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imprese</a:t>
            </a:r>
            <a:pPr algn="r" indent="0" marL="0">
              <a:buNone/>
            </a:pPr>
            <a:r>
              <a:rPr lang="en-US" sz="14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·   102 addetti</a:t>
            </a:r>
            <a:endParaRPr lang="en-US" sz="14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167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143000"/>
                <a:gridCol w="1325880"/>
                <a:gridCol w="1371600"/>
                <a:gridCol w="1965960"/>
                <a:gridCol w="457200"/>
                <a:gridCol w="502920"/>
                <a:gridCol w="548640"/>
                <a:gridCol w="16276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Ragione sociale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Città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Referente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Telefono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E-mail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Add.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SOA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H24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</a:rPr>
                        <a:t>Bacini idrografici</a:t>
                      </a:r>
                      <a:endParaRPr lang="en-US" sz="8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4E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IMPRESA SOGNO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GREGGIO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FRANCESCO SOGNO F…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3385877023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francesco.sogno@impresasogno.it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32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SESIA TORRENTE CERVO TORRENTE ELVO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BERTINI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ALAGNA VALSESIA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NICOLO BERTINI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0163 922984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bertini@bertinicostruzioni.it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30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F.LLI DEANDREIS SNC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PALAZZOLO VERCELL…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DEANDREIS DIEGO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3481211084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impresa@deandreiscostruzioni.it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9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DEFABIANI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VARALLO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DEFABIANI LUCA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0163 54201</a:t>
                      </a:r>
                      <a:endParaRPr lang="en-US" sz="750" dirty="0"/>
                    </a:p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3482868702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info@impresadefabiani.it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18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ADDA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SODIS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QUARONA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ANTONINI CANDIDO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0134 31584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c.antonini@sodissrl.it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10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PO SESIA DORA BORMIDA TANARO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16294E"/>
                          </a:solidFill>
                        </a:rPr>
                        <a:t>ISG SRL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ARBORIO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MARCO AGOSTI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3421893167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marco.agosti@gruppoquarello.it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3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Sì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2A2F3D"/>
                          </a:solidFill>
                        </a:rPr>
                        <a:t>No</a:t>
                      </a:r>
                      <a:endParaRPr lang="en-US" sz="80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2A2F3D"/>
                          </a:solidFill>
                        </a:rPr>
                        <a:t>SESIA</a:t>
                      </a:r>
                      <a:endParaRPr lang="en-US" sz="750" dirty="0"/>
                    </a:p>
                  </a:txBody>
                  <a:tcPr marL="38100" marR="38100" marT="25400" marB="25400" anchor="ctr">
                    <a:lnL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48640" y="6291072"/>
            <a:ext cx="11064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SOA: «Esp.» = esperienza pregressa in assenza di attestazione · Tutte dotate di escavatori, pale, pompe idrovore e autocarri salvo diversa indicazione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548640" y="6492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ANCE Piemonte e Valle d'Aosta  ·  Imprese qualificate per emergenze idrauliche H24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11185855" y="649224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629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toic-compassionate-carson/mnt/outputs/river_wav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5897880"/>
            <a:ext cx="12191695" cy="7315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48640" y="8229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3A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CONSULTAZIONE E CONTATTI</a:t>
            </a:r>
            <a:endParaRPr lang="en-US" sz="1300" dirty="0"/>
          </a:p>
        </p:txBody>
      </p:sp>
      <p:sp>
        <p:nvSpPr>
          <p:cNvPr id="4" name="Text 1"/>
          <p:cNvSpPr/>
          <p:nvPr/>
        </p:nvSpPr>
        <p:spPr>
          <a:xfrm>
            <a:off x="548640" y="1280160"/>
            <a:ext cx="7589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Dashboard interattiva sempre aggiornata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48640" y="2697480"/>
            <a:ext cx="7680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L'elenco è consultabile online su mappa, con filtri per provincia, bacino idrografico, reperibilità H24 e qualificazione SOA, e con i contatti diretti di ciascuna impresa.</a:t>
            </a: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548640" y="35661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3A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48640" y="384048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poggig1971.github.io/emergenze_idrauliche_Piemonte_Valle_d_Aosta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548640" y="448056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E3A8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Contatti ANCE Piemonte e Valle d'Aosta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48640" y="47548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info@ancepiemonte.it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operepubbliche@ancepiemonte.it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8595360" y="1371600"/>
            <a:ext cx="3017520" cy="3383280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11" name="Image 1" descr="/sessions/stoic-compassionate-carson/mnt/outputs/logo-ance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8869680" y="1828800"/>
            <a:ext cx="2468880" cy="56692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732520" y="26974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</a:t>
            </a:r>
            <a:pPr algn="ctr" indent="0" marL="0">
              <a:buNone/>
            </a:pPr>
            <a:r>
              <a:rPr lang="en-US" sz="2200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imprese</a:t>
            </a:r>
            <a:endParaRPr lang="en-US" sz="2200" dirty="0"/>
          </a:p>
        </p:txBody>
      </p:sp>
      <p:sp>
        <p:nvSpPr>
          <p:cNvPr id="13" name="Text 9"/>
          <p:cNvSpPr/>
          <p:nvPr/>
        </p:nvSpPr>
        <p:spPr>
          <a:xfrm>
            <a:off x="8732520" y="31546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857</a:t>
            </a:r>
            <a:pPr algn="ctr" indent="0" marL="0">
              <a:buNone/>
            </a:pPr>
            <a:r>
              <a:rPr lang="en-US" sz="2200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addetti</a:t>
            </a:r>
            <a:endParaRPr lang="en-US" sz="2200" dirty="0"/>
          </a:p>
        </p:txBody>
      </p:sp>
      <p:sp>
        <p:nvSpPr>
          <p:cNvPr id="14" name="Text 10"/>
          <p:cNvSpPr/>
          <p:nvPr/>
        </p:nvSpPr>
        <p:spPr>
          <a:xfrm>
            <a:off x="8732520" y="361188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9</a:t>
            </a:r>
            <a:pPr algn="ctr" indent="0" marL="0">
              <a:buNone/>
            </a:pPr>
            <a:r>
              <a:rPr lang="en-US" sz="2200" dirty="0">
                <a:solidFill>
                  <a:srgbClr val="16294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province</a:t>
            </a:r>
            <a:endParaRPr lang="en-US" sz="2200" dirty="0"/>
          </a:p>
        </p:txBody>
      </p:sp>
      <p:sp>
        <p:nvSpPr>
          <p:cNvPr id="15" name="Text 11"/>
          <p:cNvSpPr/>
          <p:nvPr/>
        </p:nvSpPr>
        <p:spPr>
          <a:xfrm>
            <a:off x="8732520" y="416052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5A66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aggiornati a giugno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Imprese qualificate emergenza idraulica</dc:title>
  <dc:subject>PptxGenJS Presentation</dc:subject>
  <dc:creator>ANCE Piemonte e Valle d'Aosta</dc:creator>
  <cp:lastModifiedBy>ANCE Piemonte e Valle d'Aosta</cp:lastModifiedBy>
  <cp:revision>1</cp:revision>
  <dcterms:created xsi:type="dcterms:W3CDTF">2026-06-22T19:37:07Z</dcterms:created>
  <dcterms:modified xsi:type="dcterms:W3CDTF">2026-06-22T19:37:07Z</dcterms:modified>
</cp:coreProperties>
</file>